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sldIdLst>
    <p:sldId id="256" r:id="rId2"/>
    <p:sldId id="296" r:id="rId3"/>
    <p:sldId id="295" r:id="rId4"/>
    <p:sldId id="258" r:id="rId5"/>
    <p:sldId id="288" r:id="rId6"/>
    <p:sldId id="299" r:id="rId7"/>
    <p:sldId id="261" r:id="rId8"/>
    <p:sldId id="303" r:id="rId9"/>
    <p:sldId id="301" r:id="rId10"/>
    <p:sldId id="292" r:id="rId11"/>
    <p:sldId id="304" r:id="rId12"/>
    <p:sldId id="305" r:id="rId13"/>
    <p:sldId id="259" r:id="rId14"/>
    <p:sldId id="306" r:id="rId15"/>
    <p:sldId id="317" r:id="rId16"/>
    <p:sldId id="307" r:id="rId17"/>
    <p:sldId id="308" r:id="rId18"/>
    <p:sldId id="309" r:id="rId19"/>
    <p:sldId id="310" r:id="rId20"/>
    <p:sldId id="311" r:id="rId21"/>
    <p:sldId id="312" r:id="rId22"/>
    <p:sldId id="313" r:id="rId23"/>
    <p:sldId id="314" r:id="rId24"/>
    <p:sldId id="289" r:id="rId25"/>
    <p:sldId id="277" r:id="rId26"/>
    <p:sldId id="297" r:id="rId27"/>
    <p:sldId id="298" r:id="rId28"/>
    <p:sldId id="300" r:id="rId29"/>
    <p:sldId id="315" r:id="rId30"/>
    <p:sldId id="290" r:id="rId31"/>
    <p:sldId id="260" r:id="rId32"/>
    <p:sldId id="285" r:id="rId33"/>
  </p:sldIdLst>
  <p:sldSz cx="12192000" cy="6858000"/>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62B1A72E-63B2-4E5B-BE31-4AB75F58CFCE}" type="datetimeFigureOut">
              <a:rPr lang="en-US" smtClean="0"/>
              <a:t>8/23/2022</a:t>
            </a:fld>
            <a:endParaRPr lang="en-US"/>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E4BC7BFC-D385-4EB5-8C81-954552958461}" type="slidenum">
              <a:rPr lang="en-US" smtClean="0"/>
              <a:t>‹#›</a:t>
            </a:fld>
            <a:endParaRPr lang="en-US"/>
          </a:p>
        </p:txBody>
      </p:sp>
    </p:spTree>
    <p:extLst>
      <p:ext uri="{BB962C8B-B14F-4D97-AF65-F5344CB8AC3E}">
        <p14:creationId xmlns:p14="http://schemas.microsoft.com/office/powerpoint/2010/main" val="1863194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CEEC32-AAC7-40B6-A69F-ACA7B7594FEA}" type="datetime1">
              <a:rPr lang="en-US" smtClean="0"/>
              <a:t>8/23/2022</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501487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6045F-6AB9-475C-AC90-77F2771F1519}" type="datetime1">
              <a:rPr lang="en-US" smtClean="0"/>
              <a:t>8/23/2022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101884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4358E62-9CBF-4816-B4B8-82FA6C47B97D}" type="datetime1">
              <a:rPr lang="en-US" smtClean="0"/>
              <a:t>8/23/2022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188970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FDF668-F391-41FC-A598-9B3681830119}" type="datetime1">
              <a:rPr lang="en-US" smtClean="0"/>
              <a:t>8/23/2022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2097668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30464E-94D6-44D4-A43F-E54E6BB242C4}" type="datetime1">
              <a:rPr lang="en-US" smtClean="0"/>
              <a:t>8/23/2022</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3901159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08DA5F-35CB-4741-AD0F-3AC8905598E7}" type="datetime1">
              <a:rPr lang="en-US" smtClean="0"/>
              <a:t>8/23/2022</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1238162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7500F6-4243-4475-9CFA-2D12F5655A35}" type="datetime1">
              <a:rPr lang="en-US" smtClean="0"/>
              <a:t>8/23/2022</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2193356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1C76E62-FFB1-450D-9243-E068ED7E615B}" type="datetime1">
              <a:rPr lang="en-US" smtClean="0"/>
              <a:t>8/23/2022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1326451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B199D60-A69B-4593-B646-FECC1F9A5FB0}" type="datetime1">
              <a:rPr lang="en-US" smtClean="0"/>
              <a:t>8/23/2022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248960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F454C7B-3BEB-4DBF-A05A-C99FC3DF35B5}" type="datetime1">
              <a:rPr lang="en-US" smtClean="0"/>
              <a:t>8/23/2022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442159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559D16-9CE1-485A-AED5-D9F886F3D05E}" type="datetime1">
              <a:rPr lang="en-US" smtClean="0"/>
              <a:t>8/23/2022</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3C17577-0B44-47D5-BF4C-231DD1F36FC0}"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77421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F233AC44-447F-4280-BB04-3D5C612F824F}" type="datetime1">
              <a:rPr lang="en-US" smtClean="0"/>
              <a:t>8/23/2022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2539087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3688BB1E-29C9-439A-B60F-465931EB4E7A}" type="datetime1">
              <a:rPr lang="en-US" smtClean="0"/>
              <a:t>8/23/2022</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C17577-0B44-47D5-BF4C-231DD1F36FC0}"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68942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7F295C9E-F9F8-4E55-A506-A2D5BAD5D46A}" type="datetime1">
              <a:rPr lang="en-US" smtClean="0"/>
              <a:t>8/23/2022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2221512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A54523-2523-4514-BE25-8E21550E4C60}" type="datetime1">
              <a:rPr lang="en-US" smtClean="0"/>
              <a:t>8/23/2022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20035370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F295C4-7324-4ECA-B589-90303B5A02BA}" type="datetime1">
              <a:rPr lang="en-US" smtClean="0"/>
              <a:t>8/23/2022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C17577-0B44-47D5-BF4C-231DD1F36FC0}" type="slidenum">
              <a:rPr lang="en-US" smtClean="0"/>
              <a:t>‹#›</a:t>
            </a:fld>
            <a:endParaRPr lang="en-US"/>
          </a:p>
        </p:txBody>
      </p:sp>
    </p:spTree>
    <p:extLst>
      <p:ext uri="{BB962C8B-B14F-4D97-AF65-F5344CB8AC3E}">
        <p14:creationId xmlns:p14="http://schemas.microsoft.com/office/powerpoint/2010/main" val="5927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D55967E-E3B0-4EE5-AC23-8EEDCAFDADD7}" type="datetime1">
              <a:rPr lang="en-US" smtClean="0"/>
              <a:t>8/23/2022</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3C17577-0B44-47D5-BF4C-231DD1F36FC0}" type="slidenum">
              <a:rPr lang="en-US" smtClean="0"/>
              <a:t>‹#›</a:t>
            </a:fld>
            <a:endParaRPr lang="en-US"/>
          </a:p>
        </p:txBody>
      </p:sp>
    </p:spTree>
    <p:extLst>
      <p:ext uri="{BB962C8B-B14F-4D97-AF65-F5344CB8AC3E}">
        <p14:creationId xmlns:p14="http://schemas.microsoft.com/office/powerpoint/2010/main" val="2565364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63001" y="1298275"/>
            <a:ext cx="8915399" cy="2262781"/>
          </a:xfrm>
        </p:spPr>
        <p:txBody>
          <a:bodyPr/>
          <a:lstStyle/>
          <a:p>
            <a:r>
              <a:rPr lang="en-US" dirty="0"/>
              <a:t>MA161</a:t>
            </a:r>
            <a:br>
              <a:rPr lang="en-US" dirty="0"/>
            </a:br>
            <a:r>
              <a:rPr lang="en-US" dirty="0"/>
              <a:t>Discrete Mathematics I</a:t>
            </a:r>
          </a:p>
        </p:txBody>
      </p:sp>
      <p:sp>
        <p:nvSpPr>
          <p:cNvPr id="3" name="Subtitle 2"/>
          <p:cNvSpPr>
            <a:spLocks noGrp="1"/>
          </p:cNvSpPr>
          <p:nvPr>
            <p:ph type="subTitle" idx="1"/>
          </p:nvPr>
        </p:nvSpPr>
        <p:spPr>
          <a:xfrm>
            <a:off x="2183772" y="4302927"/>
            <a:ext cx="9177217" cy="795285"/>
          </a:xfrm>
          <a:solidFill>
            <a:schemeClr val="accent5">
              <a:lumMod val="60000"/>
              <a:lumOff val="40000"/>
            </a:schemeClr>
          </a:solidFill>
        </p:spPr>
        <p:txBody>
          <a:bodyPr>
            <a:noAutofit/>
          </a:bodyPr>
          <a:lstStyle/>
          <a:p>
            <a:r>
              <a:rPr lang="en-US" sz="3600" dirty="0"/>
              <a:t>Arguments, Rules of Inference</a:t>
            </a:r>
            <a:endParaRPr lang="en-US" sz="3600" dirty="0">
              <a:solidFill>
                <a:schemeClr val="tx1"/>
              </a:solidFill>
            </a:endParaRPr>
          </a:p>
        </p:txBody>
      </p:sp>
      <p:sp>
        <p:nvSpPr>
          <p:cNvPr id="4" name="Title 1"/>
          <p:cNvSpPr txBox="1">
            <a:spLocks/>
          </p:cNvSpPr>
          <p:nvPr/>
        </p:nvSpPr>
        <p:spPr>
          <a:xfrm>
            <a:off x="2063001" y="3648038"/>
            <a:ext cx="8915399" cy="567906"/>
          </a:xfrm>
          <a:prstGeom prst="rect">
            <a:avLst/>
          </a:prstGeom>
        </p:spPr>
        <p:txBody>
          <a:bodyPr vert="horz" lIns="91440" tIns="45720" rIns="91440" bIns="45720" rtlCol="0" anchor="b">
            <a:normAutofit fontScale="92500" lnSpcReduction="10000"/>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dirty="0"/>
              <a:t>Week 2 (Part 2) Lectures</a:t>
            </a:r>
          </a:p>
        </p:txBody>
      </p:sp>
    </p:spTree>
    <p:extLst>
      <p:ext uri="{BB962C8B-B14F-4D97-AF65-F5344CB8AC3E}">
        <p14:creationId xmlns:p14="http://schemas.microsoft.com/office/powerpoint/2010/main" val="2529121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2646" y="631104"/>
            <a:ext cx="8911687" cy="678479"/>
          </a:xfrm>
        </p:spPr>
        <p:txBody>
          <a:bodyPr/>
          <a:lstStyle/>
          <a:p>
            <a:r>
              <a:rPr lang="en-US" dirty="0"/>
              <a:t>Introduction</a:t>
            </a:r>
          </a:p>
        </p:txBody>
      </p:sp>
      <p:sp>
        <p:nvSpPr>
          <p:cNvPr id="3" name="Content Placeholder 2"/>
          <p:cNvSpPr>
            <a:spLocks noGrp="1"/>
          </p:cNvSpPr>
          <p:nvPr>
            <p:ph idx="1"/>
          </p:nvPr>
        </p:nvSpPr>
        <p:spPr>
          <a:xfrm>
            <a:off x="1164566" y="1227825"/>
            <a:ext cx="10308565" cy="5103963"/>
          </a:xfrm>
        </p:spPr>
        <p:txBody>
          <a:bodyPr>
            <a:noAutofit/>
          </a:bodyPr>
          <a:lstStyle/>
          <a:p>
            <a:pPr marL="0" indent="0">
              <a:buNone/>
            </a:pPr>
            <a:r>
              <a:rPr lang="en-US" sz="2400" dirty="0">
                <a:solidFill>
                  <a:schemeClr val="tx1"/>
                </a:solidFill>
              </a:rPr>
              <a:t>Mathematical logic is often used for logical proofs. Proofs are </a:t>
            </a:r>
            <a:r>
              <a:rPr lang="en-US" sz="2400" dirty="0">
                <a:solidFill>
                  <a:schemeClr val="accent1">
                    <a:lumMod val="75000"/>
                  </a:schemeClr>
                </a:solidFill>
              </a:rPr>
              <a:t>valid arguments</a:t>
            </a:r>
            <a:r>
              <a:rPr lang="en-US" sz="2400" dirty="0">
                <a:solidFill>
                  <a:schemeClr val="tx1"/>
                </a:solidFill>
              </a:rPr>
              <a:t> that determine the truth values of mathematical statements (or proposition).</a:t>
            </a:r>
          </a:p>
          <a:p>
            <a:pPr marL="0" indent="0">
              <a:buNone/>
            </a:pPr>
            <a:r>
              <a:rPr lang="en-US" sz="2400" dirty="0">
                <a:solidFill>
                  <a:schemeClr val="tx1"/>
                </a:solidFill>
              </a:rPr>
              <a:t>An </a:t>
            </a:r>
            <a:r>
              <a:rPr lang="en-US" sz="2400" b="1" dirty="0">
                <a:solidFill>
                  <a:schemeClr val="accent1"/>
                </a:solidFill>
              </a:rPr>
              <a:t>argument</a:t>
            </a:r>
            <a:r>
              <a:rPr lang="en-US" sz="2400" dirty="0">
                <a:solidFill>
                  <a:schemeClr val="tx1"/>
                </a:solidFill>
              </a:rPr>
              <a:t> is a sequence of statements. The last statement is the conclusion and all its preceding statements are called premises (or hypothesis). The symbol “∴”, (read therefore) is placed before the conclusion. </a:t>
            </a:r>
          </a:p>
          <a:p>
            <a:pPr marL="0" indent="0">
              <a:buNone/>
            </a:pPr>
            <a:r>
              <a:rPr lang="en-US" sz="2400" dirty="0">
                <a:solidFill>
                  <a:schemeClr val="tx1"/>
                </a:solidFill>
              </a:rPr>
              <a:t>A </a:t>
            </a:r>
            <a:r>
              <a:rPr lang="en-US" sz="2400" b="1" dirty="0">
                <a:solidFill>
                  <a:schemeClr val="accent1">
                    <a:lumMod val="75000"/>
                  </a:schemeClr>
                </a:solidFill>
              </a:rPr>
              <a:t>valid</a:t>
            </a:r>
            <a:r>
              <a:rPr lang="en-US" sz="2400" dirty="0">
                <a:solidFill>
                  <a:schemeClr val="tx1"/>
                </a:solidFill>
              </a:rPr>
              <a:t> argument is one where the conclusion follows from the truth values of the premises.</a:t>
            </a:r>
          </a:p>
          <a:p>
            <a:pPr marL="0" indent="0">
              <a:buNone/>
            </a:pPr>
            <a:r>
              <a:rPr lang="en-US" sz="2400" dirty="0">
                <a:solidFill>
                  <a:schemeClr val="tx1"/>
                </a:solidFill>
              </a:rPr>
              <a:t>Use</a:t>
            </a:r>
            <a:r>
              <a:rPr lang="en-US" sz="2400" b="1" dirty="0">
                <a:solidFill>
                  <a:schemeClr val="accent1"/>
                </a:solidFill>
              </a:rPr>
              <a:t> Rules of Inference </a:t>
            </a:r>
            <a:r>
              <a:rPr lang="en-US" sz="2400" dirty="0">
                <a:solidFill>
                  <a:schemeClr val="tx1"/>
                </a:solidFill>
              </a:rPr>
              <a:t>provide the templates or guidelines for constructing valid arguments from the statements that we already have.</a:t>
            </a:r>
          </a:p>
          <a:p>
            <a:pPr marL="0" indent="0">
              <a:buNone/>
            </a:pPr>
            <a:endParaRPr lang="en-US" sz="2400" dirty="0">
              <a:solidFill>
                <a:schemeClr val="tx1"/>
              </a:solidFill>
            </a:endParaRPr>
          </a:p>
          <a:p>
            <a:pPr marL="0" indent="0">
              <a:buNone/>
            </a:pP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2</a:t>
            </a:fld>
            <a:endParaRPr lang="en-US"/>
          </a:p>
        </p:txBody>
      </p:sp>
    </p:spTree>
    <p:extLst>
      <p:ext uri="{BB962C8B-B14F-4D97-AF65-F5344CB8AC3E}">
        <p14:creationId xmlns:p14="http://schemas.microsoft.com/office/powerpoint/2010/main" val="4132175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4294" y="624110"/>
            <a:ext cx="9644332" cy="733113"/>
          </a:xfrm>
        </p:spPr>
        <p:txBody>
          <a:bodyPr/>
          <a:lstStyle/>
          <a:p>
            <a:r>
              <a:rPr lang="en-US" b="1" dirty="0"/>
              <a:t>Objectives</a:t>
            </a:r>
          </a:p>
        </p:txBody>
      </p:sp>
      <p:sp>
        <p:nvSpPr>
          <p:cNvPr id="3" name="Content Placeholder 2"/>
          <p:cNvSpPr>
            <a:spLocks noGrp="1"/>
          </p:cNvSpPr>
          <p:nvPr>
            <p:ph idx="1"/>
          </p:nvPr>
        </p:nvSpPr>
        <p:spPr>
          <a:xfrm>
            <a:off x="1794294" y="1357223"/>
            <a:ext cx="9644332" cy="3602966"/>
          </a:xfrm>
          <a:noFill/>
        </p:spPr>
        <p:txBody>
          <a:bodyPr>
            <a:noAutofit/>
          </a:bodyPr>
          <a:lstStyle/>
          <a:p>
            <a:pPr marL="0" indent="0">
              <a:buNone/>
            </a:pPr>
            <a:r>
              <a:rPr lang="en-US" sz="2800" dirty="0"/>
              <a:t>By the end of this week, you should be able to: </a:t>
            </a:r>
          </a:p>
          <a:p>
            <a:r>
              <a:rPr lang="en-US" sz="2800" dirty="0"/>
              <a:t>Recognize whether a sequence of statements is a valid argument</a:t>
            </a:r>
          </a:p>
          <a:p>
            <a:r>
              <a:rPr lang="en-US" sz="2800" dirty="0"/>
              <a:t>Apply rules of inference to check that an argument is valid.</a:t>
            </a:r>
            <a:endParaRPr lang="en-US" sz="28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3</a:t>
            </a:fld>
            <a:endParaRPr lang="en-US"/>
          </a:p>
        </p:txBody>
      </p:sp>
    </p:spTree>
    <p:extLst>
      <p:ext uri="{BB962C8B-B14F-4D97-AF65-F5344CB8AC3E}">
        <p14:creationId xmlns:p14="http://schemas.microsoft.com/office/powerpoint/2010/main" val="1980360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7151" y="624110"/>
            <a:ext cx="8911687" cy="640445"/>
          </a:xfrm>
        </p:spPr>
        <p:txBody>
          <a:bodyPr/>
          <a:lstStyle/>
          <a:p>
            <a:r>
              <a:rPr lang="en-US" b="1" dirty="0"/>
              <a:t>Valid Arguments in Propositional Logic</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4272" y="1428091"/>
                <a:ext cx="9621257" cy="5127983"/>
              </a:xfrm>
              <a:noFill/>
            </p:spPr>
            <p:txBody>
              <a:bodyPr>
                <a:noAutofit/>
              </a:bodyPr>
              <a:lstStyle/>
              <a:p>
                <a:pPr marL="0" indent="0">
                  <a:buNone/>
                </a:pPr>
                <a:r>
                  <a:rPr lang="en-US" sz="2400" dirty="0"/>
                  <a:t>An argument is a sequence of statements:</a:t>
                </a:r>
              </a:p>
              <a:p>
                <a:pPr marL="0" indent="0">
                  <a:buNone/>
                </a:pP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a:latin typeface="Cambria Math" panose="02040503050406030204" pitchFamily="18" charset="0"/>
                          </a:rPr>
                          <m:t>1</m:t>
                        </m:r>
                      </m:sub>
                    </m:sSub>
                  </m:oMath>
                </a14:m>
                <a:r>
                  <a:rPr lang="en-US" sz="2400" dirty="0"/>
                  <a:t>								</a:t>
                </a:r>
              </a:p>
              <a:p>
                <a:pPr marL="0" indent="0">
                  <a:buNone/>
                </a:pP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0" smtClean="0">
                            <a:latin typeface="Cambria Math" panose="02040503050406030204" pitchFamily="18" charset="0"/>
                          </a:rPr>
                          <m:t>2</m:t>
                        </m:r>
                      </m:sub>
                    </m:sSub>
                  </m:oMath>
                </a14:m>
                <a:endParaRPr lang="en-US" sz="2400" dirty="0"/>
              </a:p>
              <a:p>
                <a:pPr marL="0" indent="0">
                  <a:buNone/>
                </a:pPr>
                <a:r>
                  <a:rPr lang="en-US" sz="2400" dirty="0"/>
                  <a:t>									...</a:t>
                </a:r>
              </a:p>
              <a:p>
                <a:pPr marL="0" indent="0">
                  <a:buNone/>
                </a:pP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𝑛</m:t>
                        </m:r>
                      </m:sub>
                    </m:sSub>
                  </m:oMath>
                </a14:m>
                <a:endParaRPr lang="en-US" sz="2400" dirty="0"/>
              </a:p>
              <a:p>
                <a:pPr marL="0" indent="0">
                  <a:buNone/>
                </a:pPr>
                <a:r>
                  <a:rPr lang="en-US" sz="2400" dirty="0"/>
                  <a:t>									</a:t>
                </a:r>
                <a:r>
                  <a:rPr lang="en-US" sz="2400" dirty="0">
                    <a:latin typeface="Times New Roman" panose="02020603050405020304" pitchFamily="18" charset="0"/>
                    <a:cs typeface="Times New Roman" panose="02020603050405020304" pitchFamily="18" charset="0"/>
                  </a:rPr>
                  <a:t>⸫</a:t>
                </a:r>
                <a:r>
                  <a:rPr lang="en-US" sz="2400" dirty="0"/>
                  <a:t> </a:t>
                </a:r>
                <a14:m>
                  <m:oMath xmlns:m="http://schemas.openxmlformats.org/officeDocument/2006/math">
                    <m:r>
                      <a:rPr lang="en-US" sz="2400" b="0" i="1" smtClean="0">
                        <a:latin typeface="Cambria Math" panose="02040503050406030204" pitchFamily="18" charset="0"/>
                      </a:rPr>
                      <m:t>𝑞</m:t>
                    </m:r>
                  </m:oMath>
                </a14:m>
                <a:endParaRPr lang="en-US" sz="2400" dirty="0"/>
              </a:p>
              <a:p>
                <a:pPr marL="0" indent="0">
                  <a:buNone/>
                </a:pPr>
                <a:r>
                  <a:rPr lang="en-US" sz="2400" dirty="0"/>
                  <a:t>The statements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a:latin typeface="Cambria Math" panose="02040503050406030204" pitchFamily="18" charset="0"/>
                          </a:rPr>
                          <m:t>1</m:t>
                        </m:r>
                      </m:sub>
                    </m:sSub>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0" smtClean="0">
                            <a:latin typeface="Cambria Math" panose="02040503050406030204" pitchFamily="18" charset="0"/>
                          </a:rPr>
                          <m:t>2</m:t>
                        </m:r>
                      </m:sub>
                    </m:sSub>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0" smtClean="0">
                            <a:latin typeface="Cambria Math" panose="02040503050406030204" pitchFamily="18" charset="0"/>
                          </a:rPr>
                          <m:t>3</m:t>
                        </m:r>
                      </m:sub>
                    </m:sSub>
                  </m:oMath>
                </a14:m>
                <a:r>
                  <a:rPr lang="en-US" sz="2400" dirty="0"/>
                  <a:t>, . . . ,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m:rPr>
                            <m:sty m:val="p"/>
                          </m:rPr>
                          <a:rPr lang="en-US" sz="2400" b="0" i="0" smtClean="0">
                            <a:latin typeface="Cambria Math" panose="02040503050406030204" pitchFamily="18" charset="0"/>
                          </a:rPr>
                          <m:t>n</m:t>
                        </m:r>
                      </m:sub>
                    </m:sSub>
                  </m:oMath>
                </a14:m>
                <a:r>
                  <a:rPr lang="en-US" sz="2400" dirty="0"/>
                  <a:t> are called the premises or assumptions, and </a:t>
                </a:r>
                <a14:m>
                  <m:oMath xmlns:m="http://schemas.openxmlformats.org/officeDocument/2006/math">
                    <m:r>
                      <a:rPr lang="en-US" sz="2400" i="1">
                        <a:latin typeface="Cambria Math" panose="02040503050406030204" pitchFamily="18" charset="0"/>
                      </a:rPr>
                      <m:t>𝑞</m:t>
                    </m:r>
                  </m:oMath>
                </a14:m>
                <a:r>
                  <a:rPr lang="en-US" sz="2400" dirty="0"/>
                  <a:t> is called the conclusion.</a:t>
                </a:r>
              </a:p>
              <a:p>
                <a:pPr marL="0" indent="0">
                  <a:buNone/>
                </a:pPr>
                <a:r>
                  <a:rPr lang="en-US" sz="2400" dirty="0"/>
                  <a:t>The argument is valid if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a:latin typeface="Cambria Math" panose="02040503050406030204" pitchFamily="18" charset="0"/>
                          </a:rPr>
                          <m:t>1</m:t>
                        </m:r>
                      </m:sub>
                    </m:sSub>
                  </m:oMath>
                </a14:m>
                <a:r>
                  <a:rPr lang="en-US" sz="2400" dirty="0"/>
                  <a:t> ^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b="0" i="0" smtClean="0">
                            <a:latin typeface="Cambria Math" panose="02040503050406030204" pitchFamily="18" charset="0"/>
                          </a:rPr>
                          <m:t>2</m:t>
                        </m:r>
                      </m:sub>
                    </m:sSub>
                  </m:oMath>
                </a14:m>
                <a:r>
                  <a:rPr lang="en-US" sz="2400" dirty="0"/>
                  <a:t> ^ · · · ^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m:rPr>
                            <m:sty m:val="p"/>
                          </m:rPr>
                          <a:rPr lang="en-US" sz="2400" b="0" i="0" smtClean="0">
                            <a:latin typeface="Cambria Math" panose="02040503050406030204" pitchFamily="18" charset="0"/>
                          </a:rPr>
                          <m:t>n</m:t>
                        </m:r>
                      </m:sub>
                    </m:sSub>
                  </m:oMath>
                </a14:m>
                <a:r>
                  <a:rPr lang="en-US" sz="2400" dirty="0"/>
                  <a:t>)</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𝑞</m:t>
                    </m:r>
                  </m:oMath>
                </a14:m>
                <a:r>
                  <a:rPr lang="en-US" sz="2400" dirty="0"/>
                  <a:t> is a tautology. In other words, when </a:t>
                </a:r>
                <a:r>
                  <a:rPr lang="en-US" sz="2400" i="1" dirty="0"/>
                  <a:t>all the premises are true, the conclusion is also true</a:t>
                </a:r>
                <a:r>
                  <a:rPr lang="en-US" sz="2400" dirty="0"/>
                  <a:t>.</a:t>
                </a:r>
                <a:endParaRPr lang="en-US" sz="24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4272" y="1428091"/>
                <a:ext cx="9621257" cy="5127983"/>
              </a:xfrm>
              <a:blipFill>
                <a:blip r:embed="rId2"/>
                <a:stretch>
                  <a:fillRect l="-1014" t="-951" b="-35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3C17577-0B44-47D5-BF4C-231DD1F36FC0}" type="slidenum">
              <a:rPr lang="en-US" smtClean="0"/>
              <a:t>4</a:t>
            </a:fld>
            <a:endParaRPr lang="en-US"/>
          </a:p>
        </p:txBody>
      </p:sp>
    </p:spTree>
    <p:extLst>
      <p:ext uri="{BB962C8B-B14F-4D97-AF65-F5344CB8AC3E}">
        <p14:creationId xmlns:p14="http://schemas.microsoft.com/office/powerpoint/2010/main" val="3157818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7151" y="542049"/>
            <a:ext cx="8911687" cy="640445"/>
          </a:xfrm>
        </p:spPr>
        <p:txBody>
          <a:bodyPr/>
          <a:lstStyle/>
          <a:p>
            <a:r>
              <a:rPr lang="en-US" b="1" dirty="0"/>
              <a:t>Example 1</a:t>
            </a:r>
          </a:p>
        </p:txBody>
      </p:sp>
      <p:sp>
        <p:nvSpPr>
          <p:cNvPr id="4" name="Slide Number Placeholder 3"/>
          <p:cNvSpPr>
            <a:spLocks noGrp="1"/>
          </p:cNvSpPr>
          <p:nvPr>
            <p:ph type="sldNum" sz="quarter" idx="12"/>
          </p:nvPr>
        </p:nvSpPr>
        <p:spPr/>
        <p:txBody>
          <a:bodyPr/>
          <a:lstStyle/>
          <a:p>
            <a:fld id="{F3C17577-0B44-47D5-BF4C-231DD1F36FC0}" type="slidenum">
              <a:rPr lang="en-US" smtClean="0"/>
              <a:t>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638300" y="1062319"/>
                <a:ext cx="8915400" cy="4643718"/>
              </a:xfrm>
            </p:spPr>
            <p:txBody>
              <a:bodyPr>
                <a:noAutofit/>
              </a:bodyPr>
              <a:lstStyle/>
              <a:p>
                <a:pPr marL="0" indent="0">
                  <a:buNone/>
                </a:pPr>
                <a:r>
                  <a:rPr lang="en-US" sz="2400" i="1" dirty="0"/>
                  <a:t>Is this a valid argument?</a:t>
                </a:r>
              </a:p>
              <a:p>
                <a:pPr marL="0" indent="0">
                  <a:buNone/>
                </a:pPr>
                <a:r>
                  <a:rPr lang="en-US" sz="2400" dirty="0"/>
                  <a:t>				</a:t>
                </a:r>
                <a:r>
                  <a:rPr lang="en-US" sz="2400" i="1" dirty="0"/>
                  <a:t>p</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i="1" dirty="0"/>
                  <a:t>q</a:t>
                </a:r>
              </a:p>
              <a:p>
                <a:pPr marL="0" indent="0">
                  <a:buNone/>
                </a:pPr>
                <a:r>
                  <a:rPr lang="en-US" sz="2400" i="1" dirty="0"/>
                  <a:t>				p</a:t>
                </a:r>
              </a:p>
              <a:p>
                <a:pPr marL="0" indent="0">
                  <a:buNone/>
                </a:pPr>
                <a:r>
                  <a:rPr lang="en-US" sz="2400" i="1" dirty="0">
                    <a:latin typeface="Times New Roman" panose="02020603050405020304" pitchFamily="18" charset="0"/>
                    <a:cs typeface="Times New Roman" panose="02020603050405020304" pitchFamily="18" charset="0"/>
                  </a:rPr>
                  <a:t>				⸫</a:t>
                </a:r>
                <a:r>
                  <a:rPr lang="en-US" sz="2400" i="1" dirty="0"/>
                  <a:t> q</a:t>
                </a:r>
              </a:p>
              <a:p>
                <a:pPr marL="0" indent="0">
                  <a:buNone/>
                </a:pPr>
                <a:r>
                  <a:rPr lang="en-US" sz="2400" b="1" dirty="0"/>
                  <a:t>Solution</a:t>
                </a:r>
              </a:p>
              <a:p>
                <a:endParaRPr lang="en-US" sz="2400" dirty="0"/>
              </a:p>
              <a:p>
                <a:endParaRPr lang="en-US" sz="2400" dirty="0"/>
              </a:p>
              <a:p>
                <a:endParaRPr lang="en-US" sz="2400" dirty="0"/>
              </a:p>
              <a:p>
                <a:endParaRPr lang="en-US" sz="2400" dirty="0"/>
              </a:p>
              <a:p>
                <a:pPr marL="0" indent="0">
                  <a:buNone/>
                </a:pPr>
                <a:r>
                  <a:rPr lang="en-US" sz="2400" dirty="0"/>
                  <a:t>The given argument is valid since when the premises are true, the conclusion is also true.</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638300" y="1062319"/>
                <a:ext cx="8915400" cy="4643718"/>
              </a:xfrm>
              <a:blipFill>
                <a:blip r:embed="rId2"/>
                <a:stretch>
                  <a:fillRect l="-1094" t="-1050" b="-161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940902670"/>
                  </p:ext>
                </p:extLst>
              </p:nvPr>
            </p:nvGraphicFramePr>
            <p:xfrm>
              <a:off x="1638300" y="3447454"/>
              <a:ext cx="8128000" cy="201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370840">
                    <a:tc>
                      <a:txBody>
                        <a:bodyPr/>
                        <a:lstStyle/>
                        <a:p>
                          <a:pPr algn="ctr"/>
                          <a:r>
                            <a:rPr lang="en-US" sz="2400" dirty="0"/>
                            <a:t>p</a:t>
                          </a:r>
                        </a:p>
                      </a:txBody>
                      <a:tcPr/>
                    </a:tc>
                    <a:tc>
                      <a:txBody>
                        <a:bodyPr/>
                        <a:lstStyle/>
                        <a:p>
                          <a:pPr algn="ctr"/>
                          <a:r>
                            <a:rPr lang="en-US" sz="2400" dirty="0"/>
                            <a:t>q</a:t>
                          </a:r>
                        </a:p>
                      </a:txBody>
                      <a:tcPr/>
                    </a:tc>
                    <a:tc>
                      <a:txBody>
                        <a:bodyPr/>
                        <a:lstStyle/>
                        <a:p>
                          <a:pPr algn="ctr"/>
                          <a:r>
                            <a:rPr lang="fr-FR" sz="2400" dirty="0"/>
                            <a:t>p</a:t>
                          </a:r>
                          <a14:m>
                            <m:oMath xmlns:m="http://schemas.openxmlformats.org/officeDocument/2006/math">
                              <m:r>
                                <a:rPr lang="fr-FR" sz="2400" i="1" smtClean="0">
                                  <a:latin typeface="Cambria Math" panose="02040503050406030204" pitchFamily="18" charset="0"/>
                                  <a:ea typeface="Cambria Math" panose="02040503050406030204" pitchFamily="18" charset="0"/>
                                </a:rPr>
                                <m:t>→</m:t>
                              </m:r>
                            </m:oMath>
                          </a14:m>
                          <a:r>
                            <a:rPr lang="fr-FR" sz="2400" dirty="0"/>
                            <a:t>q </a:t>
                          </a:r>
                          <a:endParaRPr lang="en-US" sz="2400" dirty="0"/>
                        </a:p>
                      </a:txBody>
                      <a:tcPr/>
                    </a:tc>
                    <a:tc>
                      <a:txBody>
                        <a:bodyPr/>
                        <a:lstStyle/>
                        <a:p>
                          <a:pPr algn="ctr"/>
                          <a:r>
                            <a:rPr lang="en-US" sz="2400" dirty="0"/>
                            <a:t>p</a:t>
                          </a:r>
                        </a:p>
                      </a:txBody>
                      <a:tcPr/>
                    </a:tc>
                    <a:tc>
                      <a:txBody>
                        <a:bodyPr/>
                        <a:lstStyle/>
                        <a:p>
                          <a:pPr algn="ctr"/>
                          <a:r>
                            <a:rPr lang="en-US" sz="2400" dirty="0"/>
                            <a:t>q</a:t>
                          </a:r>
                        </a:p>
                      </a:txBody>
                      <a:tcPr/>
                    </a:tc>
                    <a:extLst>
                      <a:ext uri="{0D108BD9-81ED-4DB2-BD59-A6C34878D82A}">
                        <a16:rowId xmlns:a16="http://schemas.microsoft.com/office/drawing/2014/main" val="10000"/>
                      </a:ext>
                    </a:extLst>
                  </a:tr>
                  <a:tr h="370840">
                    <a:tc>
                      <a:txBody>
                        <a:bodyPr/>
                        <a:lstStyle/>
                        <a:p>
                          <a:pPr marL="0" indent="0" algn="ctr">
                            <a:buNone/>
                          </a:pPr>
                          <a:r>
                            <a:rPr lang="en-US" sz="2400" dirty="0"/>
                            <a:t>T</a:t>
                          </a:r>
                        </a:p>
                        <a:p>
                          <a:pPr marL="0" indent="0" algn="ctr">
                            <a:buNone/>
                          </a:pPr>
                          <a:r>
                            <a:rPr lang="en-US" sz="2400" dirty="0"/>
                            <a:t>T </a:t>
                          </a:r>
                        </a:p>
                        <a:p>
                          <a:pPr marL="0" indent="0" algn="ctr">
                            <a:buNone/>
                          </a:pPr>
                          <a:r>
                            <a:rPr lang="en-US" sz="2400" dirty="0"/>
                            <a:t>F </a:t>
                          </a:r>
                        </a:p>
                        <a:p>
                          <a:pPr marL="0" indent="0" algn="ctr">
                            <a:buNone/>
                          </a:pPr>
                          <a:r>
                            <a:rPr lang="en-US" sz="2400" dirty="0"/>
                            <a:t>F </a:t>
                          </a:r>
                        </a:p>
                      </a:txBody>
                      <a:tcPr/>
                    </a:tc>
                    <a:tc>
                      <a:txBody>
                        <a:bodyPr/>
                        <a:lstStyle/>
                        <a:p>
                          <a:pPr algn="ctr"/>
                          <a:r>
                            <a:rPr lang="en-US" sz="2400" dirty="0"/>
                            <a:t>T</a:t>
                          </a:r>
                        </a:p>
                        <a:p>
                          <a:pPr algn="ctr"/>
                          <a:r>
                            <a:rPr lang="en-US" sz="2400" dirty="0"/>
                            <a:t>F</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T </a:t>
                          </a:r>
                        </a:p>
                        <a:p>
                          <a:pPr algn="ctr"/>
                          <a:r>
                            <a:rPr lang="en-US" sz="2400" dirty="0"/>
                            <a:t>F</a:t>
                          </a:r>
                        </a:p>
                      </a:txBody>
                      <a:tcPr/>
                    </a:tc>
                    <a:tc>
                      <a:txBody>
                        <a:bodyPr/>
                        <a:lstStyle/>
                        <a:p>
                          <a:pPr algn="ctr"/>
                          <a:r>
                            <a:rPr lang="en-US" sz="2400" dirty="0">
                              <a:solidFill>
                                <a:srgbClr val="0070C0"/>
                              </a:solidFill>
                            </a:rPr>
                            <a:t>T</a:t>
                          </a:r>
                        </a:p>
                        <a:p>
                          <a:pPr algn="ctr"/>
                          <a:r>
                            <a:rPr lang="en-US" sz="2400" dirty="0"/>
                            <a:t>F</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T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T</a:t>
                          </a:r>
                        </a:p>
                      </a:txBody>
                      <a:tcPr/>
                    </a:tc>
                    <a:tc>
                      <a:txBody>
                        <a:bodyPr/>
                        <a:lstStyle/>
                        <a:p>
                          <a:pPr algn="ctr"/>
                          <a:r>
                            <a:rPr lang="en-US" sz="2400" dirty="0">
                              <a:solidFill>
                                <a:srgbClr val="0070C0"/>
                              </a:solidFill>
                            </a:rPr>
                            <a:t>T</a:t>
                          </a:r>
                        </a:p>
                        <a:p>
                          <a:pPr algn="ctr"/>
                          <a:r>
                            <a:rPr lang="en-US" sz="2400" dirty="0"/>
                            <a:t>T</a:t>
                          </a:r>
                        </a:p>
                        <a:p>
                          <a:pPr algn="ctr"/>
                          <a:r>
                            <a:rPr lang="en-US" sz="2400" dirty="0"/>
                            <a:t>F</a:t>
                          </a:r>
                        </a:p>
                        <a:p>
                          <a:pPr algn="ctr"/>
                          <a:r>
                            <a:rPr lang="en-US" sz="2400" dirty="0"/>
                            <a:t>F</a:t>
                          </a:r>
                        </a:p>
                      </a:txBody>
                      <a:tcPr/>
                    </a:tc>
                    <a:tc>
                      <a:txBody>
                        <a:bodyPr/>
                        <a:lstStyle/>
                        <a:p>
                          <a:pPr algn="ctr"/>
                          <a:r>
                            <a:rPr lang="en-US" sz="2400" dirty="0">
                              <a:solidFill>
                                <a:srgbClr val="0070C0"/>
                              </a:solidFill>
                            </a:rPr>
                            <a:t>T</a:t>
                          </a:r>
                        </a:p>
                        <a:p>
                          <a:pPr algn="ctr"/>
                          <a:r>
                            <a:rPr lang="en-US" sz="2400" dirty="0"/>
                            <a:t>F</a:t>
                          </a:r>
                        </a:p>
                        <a:p>
                          <a:pPr algn="ctr"/>
                          <a:r>
                            <a:rPr lang="en-US" sz="2400" dirty="0"/>
                            <a:t>T</a:t>
                          </a:r>
                        </a:p>
                        <a:p>
                          <a:pPr algn="ctr"/>
                          <a:r>
                            <a:rPr lang="en-US" sz="2400" dirty="0"/>
                            <a:t>F</a:t>
                          </a:r>
                        </a:p>
                      </a:txBody>
                      <a:tcPr/>
                    </a:tc>
                    <a:extLst>
                      <a:ext uri="{0D108BD9-81ED-4DB2-BD59-A6C34878D82A}">
                        <a16:rowId xmlns:a16="http://schemas.microsoft.com/office/drawing/2014/main" val="10001"/>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940902670"/>
                  </p:ext>
                </p:extLst>
              </p:nvPr>
            </p:nvGraphicFramePr>
            <p:xfrm>
              <a:off x="1638300" y="3447454"/>
              <a:ext cx="8128000" cy="201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457200">
                    <a:tc>
                      <a:txBody>
                        <a:bodyPr/>
                        <a:lstStyle/>
                        <a:p>
                          <a:pPr algn="ctr"/>
                          <a:r>
                            <a:rPr lang="en-US" sz="2400" dirty="0" smtClean="0"/>
                            <a:t>p</a:t>
                          </a:r>
                          <a:endParaRPr lang="en-US" sz="2400" dirty="0"/>
                        </a:p>
                      </a:txBody>
                      <a:tcPr/>
                    </a:tc>
                    <a:tc>
                      <a:txBody>
                        <a:bodyPr/>
                        <a:lstStyle/>
                        <a:p>
                          <a:pPr algn="ctr"/>
                          <a:r>
                            <a:rPr lang="en-US" sz="2400" dirty="0" smtClean="0"/>
                            <a:t>q</a:t>
                          </a:r>
                          <a:endParaRPr lang="en-US" sz="2400" dirty="0"/>
                        </a:p>
                      </a:txBody>
                      <a:tcPr/>
                    </a:tc>
                    <a:tc>
                      <a:txBody>
                        <a:bodyPr/>
                        <a:lstStyle/>
                        <a:p>
                          <a:endParaRPr lang="en-US"/>
                        </a:p>
                      </a:txBody>
                      <a:tcPr>
                        <a:blipFill>
                          <a:blip r:embed="rId3"/>
                          <a:stretch>
                            <a:fillRect l="-200375" t="-9333" r="-201498" b="-372000"/>
                          </a:stretch>
                        </a:blipFill>
                      </a:tcPr>
                    </a:tc>
                    <a:tc>
                      <a:txBody>
                        <a:bodyPr/>
                        <a:lstStyle/>
                        <a:p>
                          <a:pPr algn="ctr"/>
                          <a:r>
                            <a:rPr lang="en-US" sz="2400" dirty="0" smtClean="0"/>
                            <a:t>p</a:t>
                          </a:r>
                          <a:endParaRPr lang="en-US" sz="2400" dirty="0"/>
                        </a:p>
                      </a:txBody>
                      <a:tcPr/>
                    </a:tc>
                    <a:tc>
                      <a:txBody>
                        <a:bodyPr/>
                        <a:lstStyle/>
                        <a:p>
                          <a:pPr algn="ctr"/>
                          <a:r>
                            <a:rPr lang="en-US" sz="2400" dirty="0" smtClean="0"/>
                            <a:t>q</a:t>
                          </a:r>
                          <a:endParaRPr lang="en-US" sz="2400" dirty="0"/>
                        </a:p>
                      </a:txBody>
                      <a:tcPr/>
                    </a:tc>
                    <a:extLst>
                      <a:ext uri="{0D108BD9-81ED-4DB2-BD59-A6C34878D82A}">
                        <a16:rowId xmlns:a16="http://schemas.microsoft.com/office/drawing/2014/main" val="10000"/>
                      </a:ext>
                    </a:extLst>
                  </a:tr>
                  <a:tr h="1554480">
                    <a:tc>
                      <a:txBody>
                        <a:bodyPr/>
                        <a:lstStyle/>
                        <a:p>
                          <a:pPr marL="0" indent="0" algn="ctr">
                            <a:buNone/>
                          </a:pPr>
                          <a:r>
                            <a:rPr lang="en-US" sz="2400" dirty="0" smtClean="0"/>
                            <a:t>T</a:t>
                          </a:r>
                          <a:endParaRPr lang="en-US" sz="2400" dirty="0"/>
                        </a:p>
                        <a:p>
                          <a:pPr marL="0" indent="0" algn="ctr">
                            <a:buNone/>
                          </a:pPr>
                          <a:r>
                            <a:rPr lang="en-US" sz="2400" dirty="0"/>
                            <a:t>T </a:t>
                          </a:r>
                        </a:p>
                        <a:p>
                          <a:pPr marL="0" indent="0" algn="ctr">
                            <a:buNone/>
                          </a:pPr>
                          <a:r>
                            <a:rPr lang="en-US" sz="2400" dirty="0"/>
                            <a:t>F </a:t>
                          </a:r>
                        </a:p>
                        <a:p>
                          <a:pPr marL="0" indent="0" algn="ctr">
                            <a:buNone/>
                          </a:pPr>
                          <a:r>
                            <a:rPr lang="en-US" sz="2400" dirty="0"/>
                            <a:t>F </a:t>
                          </a:r>
                        </a:p>
                      </a:txBody>
                      <a:tcPr/>
                    </a:tc>
                    <a:tc>
                      <a:txBody>
                        <a:bodyPr/>
                        <a:lstStyle/>
                        <a:p>
                          <a:pPr algn="ctr"/>
                          <a:r>
                            <a:rPr lang="en-US" sz="2400" dirty="0" smtClean="0"/>
                            <a:t>T</a:t>
                          </a:r>
                        </a:p>
                        <a:p>
                          <a:pPr algn="ctr"/>
                          <a:r>
                            <a:rPr lang="en-US" sz="2400" dirty="0" smtClean="0"/>
                            <a:t>F</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smtClean="0"/>
                            <a:t>T </a:t>
                          </a:r>
                        </a:p>
                        <a:p>
                          <a:pPr algn="ctr"/>
                          <a:r>
                            <a:rPr lang="en-US" sz="2400" dirty="0" smtClean="0"/>
                            <a:t>F</a:t>
                          </a:r>
                          <a:endParaRPr lang="en-US" sz="2400" dirty="0"/>
                        </a:p>
                      </a:txBody>
                      <a:tcPr/>
                    </a:tc>
                    <a:tc>
                      <a:txBody>
                        <a:bodyPr/>
                        <a:lstStyle/>
                        <a:p>
                          <a:pPr algn="ctr"/>
                          <a:r>
                            <a:rPr lang="en-US" sz="2400" dirty="0" smtClean="0">
                              <a:solidFill>
                                <a:srgbClr val="0070C0"/>
                              </a:solidFill>
                            </a:rPr>
                            <a:t>T</a:t>
                          </a:r>
                        </a:p>
                        <a:p>
                          <a:pPr algn="ctr"/>
                          <a:r>
                            <a:rPr lang="en-US" sz="2400" dirty="0" smtClean="0"/>
                            <a:t>F</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smtClean="0"/>
                            <a:t>T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smtClean="0"/>
                            <a:t>T</a:t>
                          </a:r>
                          <a:endParaRPr lang="en-US" sz="2400" dirty="0"/>
                        </a:p>
                      </a:txBody>
                      <a:tcPr/>
                    </a:tc>
                    <a:tc>
                      <a:txBody>
                        <a:bodyPr/>
                        <a:lstStyle/>
                        <a:p>
                          <a:pPr algn="ctr"/>
                          <a:r>
                            <a:rPr lang="en-US" sz="2400" dirty="0" smtClean="0">
                              <a:solidFill>
                                <a:srgbClr val="0070C0"/>
                              </a:solidFill>
                            </a:rPr>
                            <a:t>T</a:t>
                          </a:r>
                        </a:p>
                        <a:p>
                          <a:pPr algn="ctr"/>
                          <a:r>
                            <a:rPr lang="en-US" sz="2400" dirty="0" smtClean="0"/>
                            <a:t>T</a:t>
                          </a:r>
                        </a:p>
                        <a:p>
                          <a:pPr algn="ctr"/>
                          <a:r>
                            <a:rPr lang="en-US" sz="2400" dirty="0" smtClean="0"/>
                            <a:t>F</a:t>
                          </a:r>
                        </a:p>
                        <a:p>
                          <a:pPr algn="ctr"/>
                          <a:r>
                            <a:rPr lang="en-US" sz="2400" dirty="0" smtClean="0"/>
                            <a:t>F</a:t>
                          </a:r>
                          <a:endParaRPr lang="en-US" sz="2400" dirty="0"/>
                        </a:p>
                      </a:txBody>
                      <a:tcPr/>
                    </a:tc>
                    <a:tc>
                      <a:txBody>
                        <a:bodyPr/>
                        <a:lstStyle/>
                        <a:p>
                          <a:pPr algn="ctr"/>
                          <a:r>
                            <a:rPr lang="en-US" sz="2400" dirty="0" smtClean="0">
                              <a:solidFill>
                                <a:srgbClr val="0070C0"/>
                              </a:solidFill>
                            </a:rPr>
                            <a:t>T</a:t>
                          </a:r>
                        </a:p>
                        <a:p>
                          <a:pPr algn="ctr"/>
                          <a:r>
                            <a:rPr lang="en-US" sz="2400" dirty="0" smtClean="0"/>
                            <a:t>F</a:t>
                          </a:r>
                        </a:p>
                        <a:p>
                          <a:pPr algn="ctr"/>
                          <a:r>
                            <a:rPr lang="en-US" sz="2400" dirty="0" smtClean="0"/>
                            <a:t>T</a:t>
                          </a:r>
                        </a:p>
                        <a:p>
                          <a:pPr algn="ctr"/>
                          <a:r>
                            <a:rPr lang="en-US" sz="2400" dirty="0" smtClean="0"/>
                            <a:t>F</a:t>
                          </a:r>
                          <a:endParaRPr lang="en-US" sz="2400" dirty="0"/>
                        </a:p>
                      </a:txBody>
                      <a:tcPr/>
                    </a:tc>
                    <a:extLst>
                      <a:ext uri="{0D108BD9-81ED-4DB2-BD59-A6C34878D82A}">
                        <a16:rowId xmlns:a16="http://schemas.microsoft.com/office/drawing/2014/main" val="10001"/>
                      </a:ext>
                    </a:extLst>
                  </a:tr>
                </a:tbl>
              </a:graphicData>
            </a:graphic>
          </p:graphicFrame>
        </mc:Fallback>
      </mc:AlternateContent>
      <p:sp>
        <p:nvSpPr>
          <p:cNvPr id="3" name="Rectangle 2"/>
          <p:cNvSpPr/>
          <p:nvPr/>
        </p:nvSpPr>
        <p:spPr>
          <a:xfrm>
            <a:off x="5486400" y="3971925"/>
            <a:ext cx="3743325" cy="352425"/>
          </a:xfrm>
          <a:prstGeom prst="rect">
            <a:avLst/>
          </a:prstGeom>
          <a:solidFill>
            <a:schemeClr val="accent1">
              <a:alpha val="2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3130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7151" y="542049"/>
            <a:ext cx="8911687" cy="640445"/>
          </a:xfrm>
        </p:spPr>
        <p:txBody>
          <a:bodyPr/>
          <a:lstStyle/>
          <a:p>
            <a:r>
              <a:rPr lang="en-US" b="1" dirty="0"/>
              <a:t>Example 2</a:t>
            </a:r>
          </a:p>
        </p:txBody>
      </p:sp>
      <p:sp>
        <p:nvSpPr>
          <p:cNvPr id="4" name="Slide Number Placeholder 3"/>
          <p:cNvSpPr>
            <a:spLocks noGrp="1"/>
          </p:cNvSpPr>
          <p:nvPr>
            <p:ph type="sldNum" sz="quarter" idx="12"/>
          </p:nvPr>
        </p:nvSpPr>
        <p:spPr/>
        <p:txBody>
          <a:bodyPr/>
          <a:lstStyle/>
          <a:p>
            <a:fld id="{F3C17577-0B44-47D5-BF4C-231DD1F36FC0}" type="slidenum">
              <a:rPr lang="en-US" smtClean="0"/>
              <a:t>6</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571625" y="1062319"/>
                <a:ext cx="10029825" cy="5405156"/>
              </a:xfrm>
            </p:spPr>
            <p:txBody>
              <a:bodyPr>
                <a:noAutofit/>
              </a:bodyPr>
              <a:lstStyle/>
              <a:p>
                <a:pPr marL="0" indent="0">
                  <a:buNone/>
                </a:pPr>
                <a:r>
                  <a:rPr lang="en-US" sz="2000" dirty="0"/>
                  <a:t>Show that this is an invalid argument.</a:t>
                </a:r>
              </a:p>
              <a:p>
                <a:pPr marL="0" indent="1828800">
                  <a:buNone/>
                </a:pPr>
                <a:r>
                  <a:rPr lang="en-US" sz="2000" i="1" dirty="0"/>
                  <a:t>If there is fire, then there is smoke.</a:t>
                </a:r>
              </a:p>
              <a:p>
                <a:pPr marL="0" indent="1828800">
                  <a:buNone/>
                </a:pPr>
                <a:r>
                  <a:rPr lang="en-US" sz="2000" i="1" dirty="0"/>
                  <a:t>There is smoke.</a:t>
                </a:r>
              </a:p>
              <a:p>
                <a:pPr marL="0" indent="1828800">
                  <a:buNone/>
                </a:pPr>
                <a:r>
                  <a:rPr lang="en-US" sz="2000" i="1" dirty="0"/>
                  <a:t>Therefore, there is fire.</a:t>
                </a:r>
              </a:p>
              <a:p>
                <a:pPr marL="0" indent="0">
                  <a:buNone/>
                </a:pPr>
                <a:r>
                  <a:rPr lang="en-US" sz="2000" b="1" dirty="0"/>
                  <a:t>Solution</a:t>
                </a:r>
              </a:p>
              <a:p>
                <a:pPr marL="0" indent="0">
                  <a:buNone/>
                </a:pPr>
                <a:r>
                  <a:rPr lang="en-US" sz="2000" dirty="0"/>
                  <a:t>Let </a:t>
                </a:r>
                <a:r>
                  <a:rPr lang="en-US" sz="2000" i="1" dirty="0"/>
                  <a:t>p</a:t>
                </a:r>
                <a:r>
                  <a:rPr lang="en-US" sz="2000" dirty="0"/>
                  <a:t> denote the statement “there is fire", and </a:t>
                </a:r>
                <a:r>
                  <a:rPr lang="en-US" sz="2000" i="1" dirty="0"/>
                  <a:t>q</a:t>
                </a:r>
                <a:r>
                  <a:rPr lang="en-US" sz="2000" dirty="0"/>
                  <a:t> be the statement “there is smoke", then the above can be written as</a:t>
                </a:r>
              </a:p>
              <a:p>
                <a:pPr marL="0" indent="0">
                  <a:buNone/>
                </a:pPr>
                <a:r>
                  <a:rPr lang="en-US" sz="2000" i="1" dirty="0"/>
                  <a:t>     p </a:t>
                </a:r>
                <a14:m>
                  <m:oMath xmlns:m="http://schemas.openxmlformats.org/officeDocument/2006/math">
                    <m:r>
                      <a:rPr lang="en-US" sz="2000" i="1" dirty="0">
                        <a:latin typeface="Cambria Math" panose="02040503050406030204" pitchFamily="18" charset="0"/>
                        <a:ea typeface="Cambria Math" panose="02040503050406030204" pitchFamily="18" charset="0"/>
                      </a:rPr>
                      <m:t>→</m:t>
                    </m:r>
                  </m:oMath>
                </a14:m>
                <a:r>
                  <a:rPr lang="en-US" sz="2000" i="1" dirty="0"/>
                  <a:t> q</a:t>
                </a:r>
              </a:p>
              <a:p>
                <a:pPr marL="0" indent="0">
                  <a:buNone/>
                </a:pPr>
                <a:r>
                  <a:rPr lang="en-US" sz="2000" i="1" dirty="0"/>
                  <a:t>    q</a:t>
                </a:r>
              </a:p>
              <a:p>
                <a:pPr marL="0" indent="0">
                  <a:buNone/>
                </a:pPr>
                <a:r>
                  <a:rPr lang="en-US" sz="2000" i="1" dirty="0">
                    <a:ea typeface="Cambria Math" panose="02040503050406030204" pitchFamily="18" charset="0"/>
                  </a:rPr>
                  <a:t>    </a:t>
                </a:r>
                <a14:m>
                  <m:oMath xmlns:m="http://schemas.openxmlformats.org/officeDocument/2006/math">
                    <m:r>
                      <a:rPr lang="en-US" sz="2000" i="1" dirty="0">
                        <a:latin typeface="Cambria Math" panose="02040503050406030204" pitchFamily="18" charset="0"/>
                        <a:ea typeface="Cambria Math" panose="02040503050406030204" pitchFamily="18" charset="0"/>
                      </a:rPr>
                      <m:t>∴</m:t>
                    </m:r>
                  </m:oMath>
                </a14:m>
                <a:r>
                  <a:rPr lang="en-US" sz="2000" i="1" dirty="0"/>
                  <a:t> p</a:t>
                </a:r>
              </a:p>
              <a:p>
                <a:pPr marL="0" indent="0">
                  <a:buNone/>
                </a:pPr>
                <a:r>
                  <a:rPr lang="en-US" sz="2000" dirty="0"/>
                  <a:t>Look at the truth table.</a:t>
                </a:r>
              </a:p>
              <a:p>
                <a:pPr marL="0" indent="0">
                  <a:buNone/>
                </a:pPr>
                <a:r>
                  <a:rPr lang="en-US" dirty="0"/>
                  <a:t>The given argument is invalid since in the third row the premises are true but the conclusion is false.</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571625" y="1062319"/>
                <a:ext cx="10029825" cy="5405156"/>
              </a:xfrm>
              <a:blipFill>
                <a:blip r:embed="rId2"/>
                <a:stretch>
                  <a:fillRect l="-669" t="-5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924440381"/>
                  </p:ext>
                </p:extLst>
              </p:nvPr>
            </p:nvGraphicFramePr>
            <p:xfrm>
              <a:off x="5124448" y="3857625"/>
              <a:ext cx="5474390" cy="1706880"/>
            </p:xfrm>
            <a:graphic>
              <a:graphicData uri="http://schemas.openxmlformats.org/drawingml/2006/table">
                <a:tbl>
                  <a:tblPr firstRow="1" bandRow="1">
                    <a:tableStyleId>{5C22544A-7EE6-4342-B048-85BDC9FD1C3A}</a:tableStyleId>
                  </a:tblPr>
                  <a:tblGrid>
                    <a:gridCol w="1094878">
                      <a:extLst>
                        <a:ext uri="{9D8B030D-6E8A-4147-A177-3AD203B41FA5}">
                          <a16:colId xmlns:a16="http://schemas.microsoft.com/office/drawing/2014/main" val="20000"/>
                        </a:ext>
                      </a:extLst>
                    </a:gridCol>
                    <a:gridCol w="1094878">
                      <a:extLst>
                        <a:ext uri="{9D8B030D-6E8A-4147-A177-3AD203B41FA5}">
                          <a16:colId xmlns:a16="http://schemas.microsoft.com/office/drawing/2014/main" val="20001"/>
                        </a:ext>
                      </a:extLst>
                    </a:gridCol>
                    <a:gridCol w="1094878">
                      <a:extLst>
                        <a:ext uri="{9D8B030D-6E8A-4147-A177-3AD203B41FA5}">
                          <a16:colId xmlns:a16="http://schemas.microsoft.com/office/drawing/2014/main" val="20002"/>
                        </a:ext>
                      </a:extLst>
                    </a:gridCol>
                    <a:gridCol w="1094878">
                      <a:extLst>
                        <a:ext uri="{9D8B030D-6E8A-4147-A177-3AD203B41FA5}">
                          <a16:colId xmlns:a16="http://schemas.microsoft.com/office/drawing/2014/main" val="386797696"/>
                        </a:ext>
                      </a:extLst>
                    </a:gridCol>
                    <a:gridCol w="1094878">
                      <a:extLst>
                        <a:ext uri="{9D8B030D-6E8A-4147-A177-3AD203B41FA5}">
                          <a16:colId xmlns:a16="http://schemas.microsoft.com/office/drawing/2014/main" val="3404939804"/>
                        </a:ext>
                      </a:extLst>
                    </a:gridCol>
                  </a:tblGrid>
                  <a:tr h="370176">
                    <a:tc>
                      <a:txBody>
                        <a:bodyPr/>
                        <a:lstStyle/>
                        <a:p>
                          <a:pPr algn="ctr"/>
                          <a:r>
                            <a:rPr lang="en-US" sz="2000" dirty="0"/>
                            <a:t>p</a:t>
                          </a:r>
                        </a:p>
                      </a:txBody>
                      <a:tcPr/>
                    </a:tc>
                    <a:tc>
                      <a:txBody>
                        <a:bodyPr/>
                        <a:lstStyle/>
                        <a:p>
                          <a:pPr algn="ctr"/>
                          <a:r>
                            <a:rPr lang="en-US" sz="2000" dirty="0"/>
                            <a:t>q</a:t>
                          </a:r>
                        </a:p>
                      </a:txBody>
                      <a:tcPr/>
                    </a:tc>
                    <a:tc>
                      <a:txBody>
                        <a:bodyPr/>
                        <a:lstStyle/>
                        <a:p>
                          <a:pPr algn="ctr"/>
                          <a:r>
                            <a:rPr lang="fr-FR" sz="2000" dirty="0">
                              <a:solidFill>
                                <a:srgbClr val="0070C0"/>
                              </a:solidFill>
                            </a:rPr>
                            <a:t>p</a:t>
                          </a:r>
                          <a14:m>
                            <m:oMath xmlns:m="http://schemas.openxmlformats.org/officeDocument/2006/math">
                              <m:r>
                                <a:rPr lang="fr-FR" sz="2000" i="1" smtClean="0">
                                  <a:solidFill>
                                    <a:srgbClr val="0070C0"/>
                                  </a:solidFill>
                                  <a:latin typeface="Cambria Math" panose="02040503050406030204" pitchFamily="18" charset="0"/>
                                  <a:ea typeface="Cambria Math" panose="02040503050406030204" pitchFamily="18" charset="0"/>
                                </a:rPr>
                                <m:t>→</m:t>
                              </m:r>
                            </m:oMath>
                          </a14:m>
                          <a:r>
                            <a:rPr lang="fr-FR" sz="2000" dirty="0">
                              <a:solidFill>
                                <a:srgbClr val="0070C0"/>
                              </a:solidFill>
                            </a:rPr>
                            <a:t>q </a:t>
                          </a:r>
                          <a:endParaRPr lang="en-US" sz="2000" dirty="0">
                            <a:solidFill>
                              <a:srgbClr val="0070C0"/>
                            </a:solidFill>
                          </a:endParaRPr>
                        </a:p>
                      </a:txBody>
                      <a:tcPr/>
                    </a:tc>
                    <a:tc>
                      <a:txBody>
                        <a:bodyPr/>
                        <a:lstStyle/>
                        <a:p>
                          <a:pPr algn="ctr"/>
                          <a:r>
                            <a:rPr lang="en-US" sz="2000" dirty="0">
                              <a:solidFill>
                                <a:srgbClr val="0070C0"/>
                              </a:solidFill>
                            </a:rPr>
                            <a:t>q</a:t>
                          </a:r>
                        </a:p>
                      </a:txBody>
                      <a:tcPr/>
                    </a:tc>
                    <a:tc>
                      <a:txBody>
                        <a:bodyPr/>
                        <a:lstStyle/>
                        <a:p>
                          <a:pPr algn="ctr"/>
                          <a:r>
                            <a:rPr lang="en-US" sz="2000" dirty="0">
                              <a:solidFill>
                                <a:schemeClr val="bg2">
                                  <a:lumMod val="50000"/>
                                </a:schemeClr>
                              </a:solidFill>
                            </a:rPr>
                            <a:t>p</a:t>
                          </a:r>
                        </a:p>
                      </a:txBody>
                      <a:tcPr/>
                    </a:tc>
                    <a:extLst>
                      <a:ext uri="{0D108BD9-81ED-4DB2-BD59-A6C34878D82A}">
                        <a16:rowId xmlns:a16="http://schemas.microsoft.com/office/drawing/2014/main" val="10000"/>
                      </a:ext>
                    </a:extLst>
                  </a:tr>
                  <a:tr h="1258599">
                    <a:tc>
                      <a:txBody>
                        <a:bodyPr/>
                        <a:lstStyle/>
                        <a:p>
                          <a:pPr marL="0" indent="0" algn="ctr">
                            <a:buNone/>
                          </a:pPr>
                          <a:r>
                            <a:rPr lang="en-US" sz="2000" dirty="0"/>
                            <a:t>T</a:t>
                          </a:r>
                        </a:p>
                        <a:p>
                          <a:pPr marL="0" indent="0" algn="ctr">
                            <a:buNone/>
                          </a:pPr>
                          <a:r>
                            <a:rPr lang="en-US" sz="2000" dirty="0"/>
                            <a:t>T </a:t>
                          </a:r>
                        </a:p>
                        <a:p>
                          <a:pPr marL="0" indent="0" algn="ctr">
                            <a:buNone/>
                          </a:pPr>
                          <a:r>
                            <a:rPr lang="en-US" sz="2000" dirty="0"/>
                            <a:t>F </a:t>
                          </a:r>
                        </a:p>
                        <a:p>
                          <a:pPr marL="0" indent="0" algn="ctr">
                            <a:buNone/>
                          </a:pPr>
                          <a:r>
                            <a:rPr lang="en-US" sz="2000" dirty="0"/>
                            <a:t>F </a:t>
                          </a:r>
                        </a:p>
                      </a:txBody>
                      <a:tcPr/>
                    </a:tc>
                    <a:tc>
                      <a:txBody>
                        <a:bodyPr/>
                        <a:lstStyle/>
                        <a:p>
                          <a:pPr algn="ctr"/>
                          <a:r>
                            <a:rPr lang="en-US" sz="2000" dirty="0"/>
                            <a:t>T</a:t>
                          </a:r>
                        </a:p>
                        <a:p>
                          <a:pPr algn="ctr"/>
                          <a:r>
                            <a:rPr lang="en-US" sz="2000" dirty="0"/>
                            <a:t>F</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t>T </a:t>
                          </a:r>
                        </a:p>
                        <a:p>
                          <a:pPr algn="ctr"/>
                          <a:r>
                            <a:rPr lang="en-US" sz="2000" dirty="0"/>
                            <a:t>F</a:t>
                          </a:r>
                        </a:p>
                      </a:txBody>
                      <a:tcPr/>
                    </a:tc>
                    <a:tc>
                      <a:txBody>
                        <a:bodyPr/>
                        <a:lstStyle/>
                        <a:p>
                          <a:pPr algn="ctr"/>
                          <a:r>
                            <a:rPr lang="en-US" sz="2000" dirty="0">
                              <a:solidFill>
                                <a:srgbClr val="0070C0"/>
                              </a:solidFill>
                            </a:rPr>
                            <a:t>T</a:t>
                          </a:r>
                        </a:p>
                        <a:p>
                          <a:pPr algn="ctr"/>
                          <a:r>
                            <a:rPr lang="en-US" sz="2000" dirty="0">
                              <a:solidFill>
                                <a:srgbClr val="0070C0"/>
                              </a:solidFill>
                            </a:rPr>
                            <a:t>F</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solidFill>
                                <a:srgbClr val="0070C0"/>
                              </a:solidFill>
                            </a:rPr>
                            <a:t>T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a:solidFill>
                                <a:srgbClr val="0070C0"/>
                              </a:solidFill>
                            </a:rPr>
                            <a:t>T</a:t>
                          </a:r>
                        </a:p>
                      </a:txBody>
                      <a:tcPr/>
                    </a:tc>
                    <a:tc>
                      <a:txBody>
                        <a:bodyPr/>
                        <a:lstStyle/>
                        <a:p>
                          <a:pPr algn="ctr"/>
                          <a:r>
                            <a:rPr lang="en-US" sz="2000" dirty="0">
                              <a:solidFill>
                                <a:srgbClr val="0070C0"/>
                              </a:solidFill>
                            </a:rPr>
                            <a:t>T</a:t>
                          </a:r>
                        </a:p>
                        <a:p>
                          <a:pPr algn="ctr"/>
                          <a:r>
                            <a:rPr lang="en-US" sz="2000" dirty="0">
                              <a:solidFill>
                                <a:srgbClr val="0070C0"/>
                              </a:solidFill>
                            </a:rPr>
                            <a:t>F</a:t>
                          </a:r>
                        </a:p>
                        <a:p>
                          <a:pPr algn="ctr"/>
                          <a:r>
                            <a:rPr lang="en-US" sz="2000" dirty="0">
                              <a:solidFill>
                                <a:srgbClr val="0070C0"/>
                              </a:solidFill>
                            </a:rPr>
                            <a:t>T</a:t>
                          </a:r>
                        </a:p>
                        <a:p>
                          <a:pPr algn="ctr"/>
                          <a:r>
                            <a:rPr lang="en-US" sz="2000" dirty="0">
                              <a:solidFill>
                                <a:srgbClr val="0070C0"/>
                              </a:solidFill>
                            </a:rPr>
                            <a:t>F</a:t>
                          </a:r>
                        </a:p>
                      </a:txBody>
                      <a:tcPr/>
                    </a:tc>
                    <a:tc>
                      <a:txBody>
                        <a:bodyPr/>
                        <a:lstStyle/>
                        <a:p>
                          <a:pPr algn="ctr"/>
                          <a:r>
                            <a:rPr lang="en-US" sz="2000" dirty="0">
                              <a:solidFill>
                                <a:schemeClr val="bg2">
                                  <a:lumMod val="50000"/>
                                </a:schemeClr>
                              </a:solidFill>
                            </a:rPr>
                            <a:t>T</a:t>
                          </a:r>
                        </a:p>
                        <a:p>
                          <a:pPr algn="ctr"/>
                          <a:r>
                            <a:rPr lang="en-US" sz="2000" dirty="0">
                              <a:solidFill>
                                <a:schemeClr val="bg2">
                                  <a:lumMod val="50000"/>
                                </a:schemeClr>
                              </a:solidFill>
                            </a:rPr>
                            <a:t>T</a:t>
                          </a:r>
                        </a:p>
                        <a:p>
                          <a:pPr algn="ctr"/>
                          <a:r>
                            <a:rPr lang="en-US" sz="2000" dirty="0">
                              <a:solidFill>
                                <a:schemeClr val="bg2">
                                  <a:lumMod val="50000"/>
                                </a:schemeClr>
                              </a:solidFill>
                            </a:rPr>
                            <a:t>F</a:t>
                          </a:r>
                        </a:p>
                        <a:p>
                          <a:pPr algn="ctr"/>
                          <a:r>
                            <a:rPr lang="en-US" sz="2000" dirty="0">
                              <a:solidFill>
                                <a:schemeClr val="bg2">
                                  <a:lumMod val="50000"/>
                                </a:schemeClr>
                              </a:solidFill>
                            </a:rPr>
                            <a:t>F</a:t>
                          </a:r>
                        </a:p>
                      </a:txBody>
                      <a:tcPr/>
                    </a:tc>
                    <a:extLst>
                      <a:ext uri="{0D108BD9-81ED-4DB2-BD59-A6C34878D82A}">
                        <a16:rowId xmlns:a16="http://schemas.microsoft.com/office/drawing/2014/main" val="10001"/>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924440381"/>
                  </p:ext>
                </p:extLst>
              </p:nvPr>
            </p:nvGraphicFramePr>
            <p:xfrm>
              <a:off x="5124448" y="3857625"/>
              <a:ext cx="5474390" cy="1706880"/>
            </p:xfrm>
            <a:graphic>
              <a:graphicData uri="http://schemas.openxmlformats.org/drawingml/2006/table">
                <a:tbl>
                  <a:tblPr firstRow="1" bandRow="1">
                    <a:tableStyleId>{5C22544A-7EE6-4342-B048-85BDC9FD1C3A}</a:tableStyleId>
                  </a:tblPr>
                  <a:tblGrid>
                    <a:gridCol w="1094878">
                      <a:extLst>
                        <a:ext uri="{9D8B030D-6E8A-4147-A177-3AD203B41FA5}">
                          <a16:colId xmlns:a16="http://schemas.microsoft.com/office/drawing/2014/main" val="20000"/>
                        </a:ext>
                      </a:extLst>
                    </a:gridCol>
                    <a:gridCol w="1094878">
                      <a:extLst>
                        <a:ext uri="{9D8B030D-6E8A-4147-A177-3AD203B41FA5}">
                          <a16:colId xmlns:a16="http://schemas.microsoft.com/office/drawing/2014/main" val="20001"/>
                        </a:ext>
                      </a:extLst>
                    </a:gridCol>
                    <a:gridCol w="1094878">
                      <a:extLst>
                        <a:ext uri="{9D8B030D-6E8A-4147-A177-3AD203B41FA5}">
                          <a16:colId xmlns:a16="http://schemas.microsoft.com/office/drawing/2014/main" val="20002"/>
                        </a:ext>
                      </a:extLst>
                    </a:gridCol>
                    <a:gridCol w="1094878">
                      <a:extLst>
                        <a:ext uri="{9D8B030D-6E8A-4147-A177-3AD203B41FA5}">
                          <a16:colId xmlns:a16="http://schemas.microsoft.com/office/drawing/2014/main" val="386797696"/>
                        </a:ext>
                      </a:extLst>
                    </a:gridCol>
                    <a:gridCol w="1094878">
                      <a:extLst>
                        <a:ext uri="{9D8B030D-6E8A-4147-A177-3AD203B41FA5}">
                          <a16:colId xmlns:a16="http://schemas.microsoft.com/office/drawing/2014/main" val="3404939804"/>
                        </a:ext>
                      </a:extLst>
                    </a:gridCol>
                  </a:tblGrid>
                  <a:tr h="396240">
                    <a:tc>
                      <a:txBody>
                        <a:bodyPr/>
                        <a:lstStyle/>
                        <a:p>
                          <a:pPr algn="ctr"/>
                          <a:r>
                            <a:rPr lang="en-US" sz="2000" dirty="0" smtClean="0"/>
                            <a:t>p</a:t>
                          </a:r>
                          <a:endParaRPr lang="en-US" sz="2000" dirty="0"/>
                        </a:p>
                      </a:txBody>
                      <a:tcPr/>
                    </a:tc>
                    <a:tc>
                      <a:txBody>
                        <a:bodyPr/>
                        <a:lstStyle/>
                        <a:p>
                          <a:pPr algn="ctr"/>
                          <a:r>
                            <a:rPr lang="en-US" sz="2000" dirty="0" smtClean="0"/>
                            <a:t>q</a:t>
                          </a:r>
                          <a:endParaRPr lang="en-US" sz="2000" dirty="0"/>
                        </a:p>
                      </a:txBody>
                      <a:tcPr/>
                    </a:tc>
                    <a:tc>
                      <a:txBody>
                        <a:bodyPr/>
                        <a:lstStyle/>
                        <a:p>
                          <a:endParaRPr lang="en-US"/>
                        </a:p>
                      </a:txBody>
                      <a:tcPr>
                        <a:blipFill>
                          <a:blip r:embed="rId3"/>
                          <a:stretch>
                            <a:fillRect l="-201676" t="-7692" r="-203352" b="-360000"/>
                          </a:stretch>
                        </a:blipFill>
                      </a:tcPr>
                    </a:tc>
                    <a:tc>
                      <a:txBody>
                        <a:bodyPr/>
                        <a:lstStyle/>
                        <a:p>
                          <a:pPr algn="ctr"/>
                          <a:r>
                            <a:rPr lang="en-US" sz="2000" dirty="0" smtClean="0">
                              <a:solidFill>
                                <a:srgbClr val="0070C0"/>
                              </a:solidFill>
                            </a:rPr>
                            <a:t>q</a:t>
                          </a:r>
                          <a:endParaRPr lang="en-US" sz="2000" dirty="0">
                            <a:solidFill>
                              <a:srgbClr val="0070C0"/>
                            </a:solidFill>
                          </a:endParaRPr>
                        </a:p>
                      </a:txBody>
                      <a:tcPr/>
                    </a:tc>
                    <a:tc>
                      <a:txBody>
                        <a:bodyPr/>
                        <a:lstStyle/>
                        <a:p>
                          <a:pPr algn="ctr"/>
                          <a:r>
                            <a:rPr lang="en-US" sz="2000" dirty="0" smtClean="0">
                              <a:solidFill>
                                <a:schemeClr val="bg2">
                                  <a:lumMod val="50000"/>
                                </a:schemeClr>
                              </a:solidFill>
                            </a:rPr>
                            <a:t>p</a:t>
                          </a:r>
                          <a:endParaRPr lang="en-US" sz="2000" dirty="0">
                            <a:solidFill>
                              <a:schemeClr val="bg2">
                                <a:lumMod val="50000"/>
                              </a:schemeClr>
                            </a:solidFill>
                          </a:endParaRPr>
                        </a:p>
                      </a:txBody>
                      <a:tcPr/>
                    </a:tc>
                    <a:extLst>
                      <a:ext uri="{0D108BD9-81ED-4DB2-BD59-A6C34878D82A}">
                        <a16:rowId xmlns:a16="http://schemas.microsoft.com/office/drawing/2014/main" val="10000"/>
                      </a:ext>
                    </a:extLst>
                  </a:tr>
                  <a:tr h="1310640">
                    <a:tc>
                      <a:txBody>
                        <a:bodyPr/>
                        <a:lstStyle/>
                        <a:p>
                          <a:pPr marL="0" indent="0" algn="ctr">
                            <a:buNone/>
                          </a:pPr>
                          <a:r>
                            <a:rPr lang="en-US" sz="2000" dirty="0" smtClean="0"/>
                            <a:t>T</a:t>
                          </a:r>
                          <a:endParaRPr lang="en-US" sz="2000" dirty="0"/>
                        </a:p>
                        <a:p>
                          <a:pPr marL="0" indent="0" algn="ctr">
                            <a:buNone/>
                          </a:pPr>
                          <a:r>
                            <a:rPr lang="en-US" sz="2000" dirty="0"/>
                            <a:t>T </a:t>
                          </a:r>
                        </a:p>
                        <a:p>
                          <a:pPr marL="0" indent="0" algn="ctr">
                            <a:buNone/>
                          </a:pPr>
                          <a:r>
                            <a:rPr lang="en-US" sz="2000" dirty="0"/>
                            <a:t>F </a:t>
                          </a:r>
                        </a:p>
                        <a:p>
                          <a:pPr marL="0" indent="0" algn="ctr">
                            <a:buNone/>
                          </a:pPr>
                          <a:r>
                            <a:rPr lang="en-US" sz="2000" dirty="0"/>
                            <a:t>F </a:t>
                          </a:r>
                        </a:p>
                      </a:txBody>
                      <a:tcPr/>
                    </a:tc>
                    <a:tc>
                      <a:txBody>
                        <a:bodyPr/>
                        <a:lstStyle/>
                        <a:p>
                          <a:pPr algn="ctr"/>
                          <a:r>
                            <a:rPr lang="en-US" sz="2000" dirty="0" smtClean="0"/>
                            <a:t>T</a:t>
                          </a:r>
                        </a:p>
                        <a:p>
                          <a:pPr algn="ctr"/>
                          <a:r>
                            <a:rPr lang="en-US" sz="2000" dirty="0" smtClean="0"/>
                            <a:t>F</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smtClean="0"/>
                            <a:t>T </a:t>
                          </a:r>
                        </a:p>
                        <a:p>
                          <a:pPr algn="ctr"/>
                          <a:r>
                            <a:rPr lang="en-US" sz="2000" dirty="0" smtClean="0"/>
                            <a:t>F</a:t>
                          </a:r>
                          <a:endParaRPr lang="en-US" sz="2000" dirty="0"/>
                        </a:p>
                      </a:txBody>
                      <a:tcPr/>
                    </a:tc>
                    <a:tc>
                      <a:txBody>
                        <a:bodyPr/>
                        <a:lstStyle/>
                        <a:p>
                          <a:pPr algn="ctr"/>
                          <a:r>
                            <a:rPr lang="en-US" sz="2000" dirty="0" smtClean="0">
                              <a:solidFill>
                                <a:srgbClr val="0070C0"/>
                              </a:solidFill>
                            </a:rPr>
                            <a:t>T</a:t>
                          </a:r>
                        </a:p>
                        <a:p>
                          <a:pPr algn="ctr"/>
                          <a:r>
                            <a:rPr lang="en-US" sz="2000" dirty="0" smtClean="0">
                              <a:solidFill>
                                <a:srgbClr val="0070C0"/>
                              </a:solidFill>
                            </a:rPr>
                            <a:t>F</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smtClean="0">
                              <a:solidFill>
                                <a:srgbClr val="0070C0"/>
                              </a:solidFill>
                            </a:rPr>
                            <a:t>T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000" dirty="0" smtClean="0">
                              <a:solidFill>
                                <a:srgbClr val="0070C0"/>
                              </a:solidFill>
                            </a:rPr>
                            <a:t>T</a:t>
                          </a:r>
                          <a:endParaRPr lang="en-US" sz="2000" dirty="0">
                            <a:solidFill>
                              <a:srgbClr val="0070C0"/>
                            </a:solidFill>
                          </a:endParaRPr>
                        </a:p>
                      </a:txBody>
                      <a:tcPr/>
                    </a:tc>
                    <a:tc>
                      <a:txBody>
                        <a:bodyPr/>
                        <a:lstStyle/>
                        <a:p>
                          <a:pPr algn="ctr"/>
                          <a:r>
                            <a:rPr lang="en-US" sz="2000" dirty="0" smtClean="0">
                              <a:solidFill>
                                <a:srgbClr val="0070C0"/>
                              </a:solidFill>
                            </a:rPr>
                            <a:t>T</a:t>
                          </a:r>
                        </a:p>
                        <a:p>
                          <a:pPr algn="ctr"/>
                          <a:r>
                            <a:rPr lang="en-US" sz="2000" dirty="0" smtClean="0">
                              <a:solidFill>
                                <a:srgbClr val="0070C0"/>
                              </a:solidFill>
                            </a:rPr>
                            <a:t>F</a:t>
                          </a:r>
                        </a:p>
                        <a:p>
                          <a:pPr algn="ctr"/>
                          <a:r>
                            <a:rPr lang="en-US" sz="2000" dirty="0" smtClean="0">
                              <a:solidFill>
                                <a:srgbClr val="0070C0"/>
                              </a:solidFill>
                            </a:rPr>
                            <a:t>T</a:t>
                          </a:r>
                        </a:p>
                        <a:p>
                          <a:pPr algn="ctr"/>
                          <a:r>
                            <a:rPr lang="en-US" sz="2000" dirty="0" smtClean="0">
                              <a:solidFill>
                                <a:srgbClr val="0070C0"/>
                              </a:solidFill>
                            </a:rPr>
                            <a:t>F</a:t>
                          </a:r>
                          <a:endParaRPr lang="en-US" sz="2000" dirty="0">
                            <a:solidFill>
                              <a:srgbClr val="0070C0"/>
                            </a:solidFill>
                          </a:endParaRPr>
                        </a:p>
                      </a:txBody>
                      <a:tcPr/>
                    </a:tc>
                    <a:tc>
                      <a:txBody>
                        <a:bodyPr/>
                        <a:lstStyle/>
                        <a:p>
                          <a:pPr algn="ctr"/>
                          <a:r>
                            <a:rPr lang="en-US" sz="2000" dirty="0" smtClean="0">
                              <a:solidFill>
                                <a:schemeClr val="bg2">
                                  <a:lumMod val="50000"/>
                                </a:schemeClr>
                              </a:solidFill>
                            </a:rPr>
                            <a:t>T</a:t>
                          </a:r>
                        </a:p>
                        <a:p>
                          <a:pPr algn="ctr"/>
                          <a:r>
                            <a:rPr lang="en-US" sz="2000" dirty="0" smtClean="0">
                              <a:solidFill>
                                <a:schemeClr val="bg2">
                                  <a:lumMod val="50000"/>
                                </a:schemeClr>
                              </a:solidFill>
                            </a:rPr>
                            <a:t>T</a:t>
                          </a:r>
                        </a:p>
                        <a:p>
                          <a:pPr algn="ctr"/>
                          <a:r>
                            <a:rPr lang="en-US" sz="2000" dirty="0" smtClean="0">
                              <a:solidFill>
                                <a:schemeClr val="bg2">
                                  <a:lumMod val="50000"/>
                                </a:schemeClr>
                              </a:solidFill>
                            </a:rPr>
                            <a:t>F</a:t>
                          </a:r>
                        </a:p>
                        <a:p>
                          <a:pPr algn="ctr"/>
                          <a:r>
                            <a:rPr lang="en-US" sz="2000" dirty="0" smtClean="0">
                              <a:solidFill>
                                <a:schemeClr val="bg2">
                                  <a:lumMod val="50000"/>
                                </a:schemeClr>
                              </a:solidFill>
                            </a:rPr>
                            <a:t>F</a:t>
                          </a:r>
                          <a:endParaRPr lang="en-US" sz="2000" dirty="0">
                            <a:solidFill>
                              <a:schemeClr val="bg2">
                                <a:lumMod val="50000"/>
                              </a:schemeClr>
                            </a:solidFill>
                          </a:endParaRPr>
                        </a:p>
                      </a:txBody>
                      <a:tcPr/>
                    </a:tc>
                    <a:extLst>
                      <a:ext uri="{0D108BD9-81ED-4DB2-BD59-A6C34878D82A}">
                        <a16:rowId xmlns:a16="http://schemas.microsoft.com/office/drawing/2014/main" val="10001"/>
                      </a:ext>
                    </a:extLst>
                  </a:tr>
                </a:tbl>
              </a:graphicData>
            </a:graphic>
          </p:graphicFrame>
        </mc:Fallback>
      </mc:AlternateContent>
      <p:sp>
        <p:nvSpPr>
          <p:cNvPr id="3" name="Rectangle 2"/>
          <p:cNvSpPr/>
          <p:nvPr/>
        </p:nvSpPr>
        <p:spPr>
          <a:xfrm>
            <a:off x="7534275" y="4914900"/>
            <a:ext cx="2857500" cy="342900"/>
          </a:xfrm>
          <a:prstGeom prst="rect">
            <a:avLst/>
          </a:prstGeom>
          <a:solidFill>
            <a:schemeClr val="accent2">
              <a:lumMod val="60000"/>
              <a:lumOff val="40000"/>
              <a:alpha val="2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12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26" y="565130"/>
            <a:ext cx="8911687" cy="764743"/>
          </a:xfrm>
        </p:spPr>
        <p:txBody>
          <a:bodyPr/>
          <a:lstStyle/>
          <a:p>
            <a:r>
              <a:rPr lang="en-US" b="1" dirty="0"/>
              <a:t>Fallacies</a:t>
            </a:r>
            <a:endParaRPr lang="en-US" dirty="0"/>
          </a:p>
        </p:txBody>
      </p:sp>
      <p:sp>
        <p:nvSpPr>
          <p:cNvPr id="3" name="Content Placeholder 2"/>
          <p:cNvSpPr>
            <a:spLocks noGrp="1"/>
          </p:cNvSpPr>
          <p:nvPr>
            <p:ph idx="1"/>
          </p:nvPr>
        </p:nvSpPr>
        <p:spPr>
          <a:xfrm>
            <a:off x="1311578" y="1231141"/>
            <a:ext cx="10423221" cy="3483734"/>
          </a:xfrm>
          <a:noFill/>
        </p:spPr>
        <p:txBody>
          <a:bodyPr>
            <a:noAutofit/>
          </a:bodyPr>
          <a:lstStyle/>
          <a:p>
            <a:pPr marL="0" indent="0">
              <a:buNone/>
            </a:pPr>
            <a:r>
              <a:rPr lang="en-US" sz="2800" dirty="0">
                <a:solidFill>
                  <a:schemeClr val="tx1"/>
                </a:solidFill>
              </a:rPr>
              <a:t>A fallacy is a kind of error in reasoning.</a:t>
            </a:r>
            <a:endParaRPr lang="en-US" sz="4000" dirty="0">
              <a:solidFill>
                <a:schemeClr val="tx1"/>
              </a:solidFill>
            </a:endParaRPr>
          </a:p>
          <a:p>
            <a:pPr marL="0" indent="0">
              <a:buNone/>
            </a:pPr>
            <a:r>
              <a:rPr lang="en-US" sz="2800" dirty="0">
                <a:solidFill>
                  <a:schemeClr val="tx1"/>
                </a:solidFill>
              </a:rPr>
              <a:t>The term "fallacy" is ambiguous, It can refer either to </a:t>
            </a:r>
          </a:p>
          <a:p>
            <a:pPr marL="514350" indent="-514350">
              <a:buAutoNum type="alphaLcParenBoth"/>
            </a:pPr>
            <a:r>
              <a:rPr lang="en-US" sz="2800" dirty="0">
                <a:solidFill>
                  <a:schemeClr val="tx1"/>
                </a:solidFill>
              </a:rPr>
              <a:t>a kind of error in an argument, </a:t>
            </a:r>
          </a:p>
          <a:p>
            <a:pPr marL="514350" indent="-514350">
              <a:buAutoNum type="alphaLcParenBoth"/>
            </a:pPr>
            <a:r>
              <a:rPr lang="en-US" sz="2800" dirty="0">
                <a:solidFill>
                  <a:schemeClr val="tx1"/>
                </a:solidFill>
              </a:rPr>
              <a:t>a kind of error in reasoning (including arguments, definitions, explanations, and so forth), </a:t>
            </a:r>
          </a:p>
          <a:p>
            <a:pPr marL="514350" indent="-514350">
              <a:buAutoNum type="alphaLcParenBoth"/>
            </a:pPr>
            <a:r>
              <a:rPr lang="en-US" sz="2800" dirty="0">
                <a:solidFill>
                  <a:schemeClr val="tx1"/>
                </a:solidFill>
              </a:rPr>
              <a:t>a false belief, or </a:t>
            </a:r>
          </a:p>
          <a:p>
            <a:pPr marL="514350" indent="-514350">
              <a:buAutoNum type="alphaLcParenBoth"/>
            </a:pPr>
            <a:r>
              <a:rPr lang="en-US" sz="2800" dirty="0">
                <a:solidFill>
                  <a:schemeClr val="tx1"/>
                </a:solidFill>
              </a:rPr>
              <a:t>the cause of any of the previous errors including what are normally referred to as "rhetorical techniques.“</a:t>
            </a:r>
          </a:p>
          <a:p>
            <a:pPr marL="0" indent="0">
              <a:buNone/>
            </a:pPr>
            <a:endParaRPr lang="en-US" sz="4000" dirty="0">
              <a:solidFill>
                <a:schemeClr val="tx1"/>
              </a:solidFill>
            </a:endParaRPr>
          </a:p>
        </p:txBody>
      </p:sp>
      <p:sp>
        <p:nvSpPr>
          <p:cNvPr id="8" name="Slide Number Placeholder 7"/>
          <p:cNvSpPr>
            <a:spLocks noGrp="1"/>
          </p:cNvSpPr>
          <p:nvPr>
            <p:ph type="sldNum" sz="quarter" idx="12"/>
          </p:nvPr>
        </p:nvSpPr>
        <p:spPr/>
        <p:txBody>
          <a:bodyPr/>
          <a:lstStyle/>
          <a:p>
            <a:fld id="{F3C17577-0B44-47D5-BF4C-231DD1F36FC0}" type="slidenum">
              <a:rPr lang="en-US" smtClean="0"/>
              <a:t>7</a:t>
            </a:fld>
            <a:endParaRPr lang="en-US"/>
          </a:p>
        </p:txBody>
      </p:sp>
      <p:sp>
        <p:nvSpPr>
          <p:cNvPr id="7" name="Content Placeholder 2"/>
          <p:cNvSpPr txBox="1">
            <a:spLocks/>
          </p:cNvSpPr>
          <p:nvPr/>
        </p:nvSpPr>
        <p:spPr>
          <a:xfrm>
            <a:off x="1206801" y="5380886"/>
            <a:ext cx="10107282" cy="1226309"/>
          </a:xfrm>
          <a:prstGeom prst="rect">
            <a:avLst/>
          </a:prstGeom>
          <a:solidFill>
            <a:schemeClr val="bg2">
              <a:lumMod val="75000"/>
            </a:schemeClr>
          </a:solidFill>
          <a:ln w="19050">
            <a:solidFill>
              <a:schemeClr val="tx1"/>
            </a:solidFill>
          </a:ln>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800">
                <a:solidFill>
                  <a:schemeClr val="tx1"/>
                </a:solidFill>
              </a:rPr>
              <a:t>A fallacy is an error that results in an invalid argument. i.e. A fallacy is an argument that is not valid.</a:t>
            </a:r>
          </a:p>
          <a:p>
            <a:pPr marL="0" indent="0">
              <a:buFont typeface="Wingdings 3" charset="2"/>
              <a:buNone/>
            </a:pPr>
            <a:endParaRPr lang="en-US" sz="4000" dirty="0">
              <a:solidFill>
                <a:schemeClr val="tx1"/>
              </a:solidFill>
            </a:endParaRPr>
          </a:p>
        </p:txBody>
      </p:sp>
    </p:spTree>
    <p:extLst>
      <p:ext uri="{BB962C8B-B14F-4D97-AF65-F5344CB8AC3E}">
        <p14:creationId xmlns:p14="http://schemas.microsoft.com/office/powerpoint/2010/main" val="1957229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26" y="565130"/>
            <a:ext cx="8911687" cy="764743"/>
          </a:xfrm>
        </p:spPr>
        <p:txBody>
          <a:bodyPr/>
          <a:lstStyle/>
          <a:p>
            <a:r>
              <a:rPr lang="en-US" b="1" dirty="0"/>
              <a:t>Examples of famous Fallacies</a:t>
            </a:r>
            <a:endParaRPr lang="en-US" dirty="0"/>
          </a:p>
        </p:txBody>
      </p:sp>
      <p:sp>
        <p:nvSpPr>
          <p:cNvPr id="3" name="Content Placeholder 2"/>
          <p:cNvSpPr>
            <a:spLocks noGrp="1"/>
          </p:cNvSpPr>
          <p:nvPr>
            <p:ph idx="1"/>
          </p:nvPr>
        </p:nvSpPr>
        <p:spPr>
          <a:xfrm>
            <a:off x="1311578" y="1231141"/>
            <a:ext cx="10423221" cy="3483734"/>
          </a:xfrm>
          <a:noFill/>
        </p:spPr>
        <p:txBody>
          <a:bodyPr>
            <a:noAutofit/>
          </a:bodyPr>
          <a:lstStyle/>
          <a:p>
            <a:pPr marL="0" lvl="0" indent="0" defTabSz="914400" eaLnBrk="0" fontAlgn="base" hangingPunct="0">
              <a:spcBef>
                <a:spcPct val="0"/>
              </a:spcBef>
              <a:spcAft>
                <a:spcPct val="0"/>
              </a:spcAft>
              <a:buClrTx/>
              <a:buNone/>
            </a:pPr>
            <a:r>
              <a:rPr lang="en-US" altLang="en-US" sz="2000" b="1" dirty="0">
                <a:solidFill>
                  <a:schemeClr val="accent1">
                    <a:lumMod val="75000"/>
                  </a:schemeClr>
                </a:solidFill>
                <a:ea typeface="+mj-ea"/>
                <a:cs typeface="+mj-cs"/>
              </a:rPr>
              <a:t>Appeal to Money</a:t>
            </a:r>
          </a:p>
          <a:p>
            <a:pPr marL="0" lvl="0" indent="0" defTabSz="914400" eaLnBrk="0" fontAlgn="base" hangingPunct="0">
              <a:spcBef>
                <a:spcPct val="0"/>
              </a:spcBef>
              <a:spcAft>
                <a:spcPct val="0"/>
              </a:spcAft>
              <a:buClrTx/>
              <a:buNone/>
            </a:pPr>
            <a:r>
              <a:rPr lang="en-US" altLang="en-US" sz="2000" dirty="0">
                <a:solidFill>
                  <a:srgbClr val="000000"/>
                </a:solidFill>
              </a:rPr>
              <a:t>The Fallacy of Appeal to Money uses the error of supposing that, </a:t>
            </a:r>
          </a:p>
          <a:p>
            <a:pPr defTabSz="914400" eaLnBrk="0" fontAlgn="base" hangingPunct="0">
              <a:spcBef>
                <a:spcPct val="0"/>
              </a:spcBef>
              <a:spcAft>
                <a:spcPct val="0"/>
              </a:spcAft>
              <a:buClrTx/>
            </a:pPr>
            <a:r>
              <a:rPr lang="en-US" altLang="en-US" sz="2000" dirty="0">
                <a:solidFill>
                  <a:schemeClr val="accent1">
                    <a:lumMod val="60000"/>
                    <a:lumOff val="40000"/>
                  </a:schemeClr>
                </a:solidFill>
              </a:rPr>
              <a:t>if something costs a great deal of money, then it must be better</a:t>
            </a:r>
          </a:p>
          <a:p>
            <a:pPr defTabSz="914400" eaLnBrk="0" fontAlgn="base" hangingPunct="0">
              <a:spcBef>
                <a:spcPct val="0"/>
              </a:spcBef>
              <a:spcAft>
                <a:spcPct val="0"/>
              </a:spcAft>
              <a:buClrTx/>
            </a:pPr>
            <a:r>
              <a:rPr lang="en-US" altLang="en-US" sz="2000" dirty="0">
                <a:solidFill>
                  <a:schemeClr val="accent1">
                    <a:lumMod val="60000"/>
                    <a:lumOff val="40000"/>
                  </a:schemeClr>
                </a:solidFill>
              </a:rPr>
              <a:t>if someone has a great deal of money, then they're a better person in some way unrelated to having a great deal of money.</a:t>
            </a:r>
            <a:r>
              <a:rPr lang="en-US" altLang="en-US" sz="2000" dirty="0">
                <a:solidFill>
                  <a:srgbClr val="000000"/>
                </a:solidFill>
              </a:rPr>
              <a:t> </a:t>
            </a:r>
          </a:p>
          <a:p>
            <a:pPr marL="0" lvl="0" indent="0" defTabSz="914400" eaLnBrk="0" fontAlgn="base" hangingPunct="0">
              <a:spcBef>
                <a:spcPct val="0"/>
              </a:spcBef>
              <a:spcAft>
                <a:spcPct val="0"/>
              </a:spcAft>
              <a:buClrTx/>
              <a:buNone/>
            </a:pPr>
            <a:r>
              <a:rPr lang="en-US" altLang="en-US" sz="2000" dirty="0">
                <a:solidFill>
                  <a:srgbClr val="000000"/>
                </a:solidFill>
              </a:rPr>
              <a:t>Similarly it's a mistake to suppose that </a:t>
            </a:r>
          </a:p>
          <a:p>
            <a:pPr defTabSz="914400" eaLnBrk="0" fontAlgn="base" hangingPunct="0">
              <a:spcBef>
                <a:spcPct val="0"/>
              </a:spcBef>
              <a:spcAft>
                <a:spcPct val="0"/>
              </a:spcAft>
              <a:buClrTx/>
            </a:pPr>
            <a:r>
              <a:rPr lang="en-US" altLang="en-US" sz="2000" dirty="0">
                <a:solidFill>
                  <a:schemeClr val="accent1">
                    <a:lumMod val="60000"/>
                    <a:lumOff val="40000"/>
                  </a:schemeClr>
                </a:solidFill>
              </a:rPr>
              <a:t>if something is cheap it must be of inferior quality</a:t>
            </a:r>
            <a:r>
              <a:rPr lang="en-US" altLang="en-US" sz="2000" dirty="0">
                <a:solidFill>
                  <a:srgbClr val="000000"/>
                </a:solidFill>
              </a:rPr>
              <a:t>, </a:t>
            </a:r>
          </a:p>
          <a:p>
            <a:pPr defTabSz="914400" eaLnBrk="0" fontAlgn="base" hangingPunct="0">
              <a:spcBef>
                <a:spcPct val="0"/>
              </a:spcBef>
              <a:spcAft>
                <a:spcPct val="0"/>
              </a:spcAft>
              <a:buClrTx/>
            </a:pPr>
            <a:r>
              <a:rPr lang="en-US" altLang="en-US" sz="2000" dirty="0">
                <a:solidFill>
                  <a:schemeClr val="accent1">
                    <a:lumMod val="60000"/>
                    <a:lumOff val="40000"/>
                  </a:schemeClr>
                </a:solidFill>
              </a:rPr>
              <a:t>if someone is poor financially then they're poor at something unrelated to having money.</a:t>
            </a:r>
          </a:p>
          <a:p>
            <a:pPr marL="0" lvl="0" indent="0" defTabSz="914400" eaLnBrk="0" fontAlgn="base" hangingPunct="0">
              <a:spcBef>
                <a:spcPct val="0"/>
              </a:spcBef>
              <a:spcAft>
                <a:spcPct val="0"/>
              </a:spcAft>
              <a:buClrTx/>
              <a:buNone/>
            </a:pPr>
            <a:r>
              <a:rPr lang="en-US" altLang="en-US" sz="2000" dirty="0">
                <a:solidFill>
                  <a:schemeClr val="tx1"/>
                </a:solidFill>
              </a:rPr>
              <a:t>He's rich, so he should be the president of our Parents and Teachers Organization.</a:t>
            </a:r>
          </a:p>
          <a:p>
            <a:pPr marL="0" indent="0">
              <a:buNone/>
            </a:pPr>
            <a:endParaRPr lang="en-US" sz="2000" b="1" dirty="0">
              <a:solidFill>
                <a:schemeClr val="tx1"/>
              </a:solidFill>
            </a:endParaRPr>
          </a:p>
          <a:p>
            <a:pPr marL="0" indent="0">
              <a:buNone/>
            </a:pPr>
            <a:r>
              <a:rPr lang="en-US" sz="2000" b="1" dirty="0">
                <a:solidFill>
                  <a:schemeClr val="accent1">
                    <a:lumMod val="75000"/>
                  </a:schemeClr>
                </a:solidFill>
              </a:rPr>
              <a:t>Band Wagon</a:t>
            </a:r>
            <a:r>
              <a:rPr lang="en-US" sz="2000" dirty="0">
                <a:solidFill>
                  <a:schemeClr val="accent1">
                    <a:lumMod val="75000"/>
                  </a:schemeClr>
                </a:solidFill>
              </a:rPr>
              <a:t> </a:t>
            </a:r>
            <a:r>
              <a:rPr lang="en-US" sz="2000" dirty="0">
                <a:solidFill>
                  <a:schemeClr val="tx1"/>
                </a:solidFill>
              </a:rPr>
              <a:t>- These fallacies occur when a proposition is claimed to be true or good solely because many people believe it to be so.</a:t>
            </a:r>
          </a:p>
          <a:p>
            <a:pPr marL="0" indent="0">
              <a:buNone/>
            </a:pPr>
            <a:r>
              <a:rPr lang="en-US" sz="2000" dirty="0">
                <a:solidFill>
                  <a:schemeClr val="tx1"/>
                </a:solidFill>
              </a:rPr>
              <a:t>Everyone on campus is wearing Air </a:t>
            </a:r>
            <a:r>
              <a:rPr lang="en-US" sz="2000" dirty="0" err="1">
                <a:solidFill>
                  <a:schemeClr val="tx1"/>
                </a:solidFill>
              </a:rPr>
              <a:t>Jordans</a:t>
            </a:r>
            <a:r>
              <a:rPr lang="en-US" sz="2000" dirty="0">
                <a:solidFill>
                  <a:schemeClr val="tx1"/>
                </a:solidFill>
              </a:rPr>
              <a:t>. I need to buy those sneakers.</a:t>
            </a:r>
          </a:p>
          <a:p>
            <a:pPr marL="0" indent="0">
              <a:buNone/>
            </a:pPr>
            <a:r>
              <a:rPr lang="en-US" sz="2000" dirty="0">
                <a:solidFill>
                  <a:schemeClr val="tx1"/>
                </a:solidFill>
              </a:rPr>
              <a:t>All my friends are doing a low carb diet. That must be the only way to lose weight.</a:t>
            </a:r>
          </a:p>
          <a:p>
            <a:pPr marL="0" indent="0">
              <a:buNone/>
            </a:pPr>
            <a:endParaRPr lang="en-US" sz="2000" dirty="0">
              <a:solidFill>
                <a:schemeClr val="tx1"/>
              </a:solidFill>
            </a:endParaRPr>
          </a:p>
        </p:txBody>
      </p:sp>
      <p:sp>
        <p:nvSpPr>
          <p:cNvPr id="8" name="Slide Number Placeholder 7"/>
          <p:cNvSpPr>
            <a:spLocks noGrp="1"/>
          </p:cNvSpPr>
          <p:nvPr>
            <p:ph type="sldNum" sz="quarter" idx="12"/>
          </p:nvPr>
        </p:nvSpPr>
        <p:spPr/>
        <p:txBody>
          <a:bodyPr/>
          <a:lstStyle/>
          <a:p>
            <a:fld id="{F3C17577-0B44-47D5-BF4C-231DD1F36FC0}" type="slidenum">
              <a:rPr lang="en-US" smtClean="0"/>
              <a:t>8</a:t>
            </a:fld>
            <a:endParaRPr lang="en-US"/>
          </a:p>
        </p:txBody>
      </p:sp>
    </p:spTree>
    <p:extLst>
      <p:ext uri="{BB962C8B-B14F-4D97-AF65-F5344CB8AC3E}">
        <p14:creationId xmlns:p14="http://schemas.microsoft.com/office/powerpoint/2010/main" val="3133050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26" y="565130"/>
            <a:ext cx="8911687" cy="764743"/>
          </a:xfrm>
        </p:spPr>
        <p:txBody>
          <a:bodyPr/>
          <a:lstStyle/>
          <a:p>
            <a:r>
              <a:rPr lang="en-US" b="1" dirty="0"/>
              <a:t>Converse Error</a:t>
            </a:r>
            <a:endParaRPr lang="en-US" dirty="0"/>
          </a:p>
        </p:txBody>
      </p:sp>
      <p:sp>
        <p:nvSpPr>
          <p:cNvPr id="8" name="Slide Number Placeholder 7"/>
          <p:cNvSpPr>
            <a:spLocks noGrp="1"/>
          </p:cNvSpPr>
          <p:nvPr>
            <p:ph type="sldNum" sz="quarter" idx="12"/>
          </p:nvPr>
        </p:nvSpPr>
        <p:spPr/>
        <p:txBody>
          <a:bodyPr/>
          <a:lstStyle/>
          <a:p>
            <a:fld id="{F3C17577-0B44-47D5-BF4C-231DD1F36FC0}" type="slidenum">
              <a:rPr lang="en-US" smtClean="0"/>
              <a:t>9</a:t>
            </a:fld>
            <a:endParaRPr lang="en-US"/>
          </a:p>
        </p:txBody>
      </p:sp>
      <mc:AlternateContent xmlns:mc="http://schemas.openxmlformats.org/markup-compatibility/2006" xmlns:a14="http://schemas.microsoft.com/office/drawing/2010/main">
        <mc:Choice Requires="a14">
          <p:sp>
            <p:nvSpPr>
              <p:cNvPr id="4" name="Rectangle 3"/>
              <p:cNvSpPr/>
              <p:nvPr/>
            </p:nvSpPr>
            <p:spPr>
              <a:xfrm>
                <a:off x="1311579" y="1238250"/>
                <a:ext cx="10585146" cy="5139869"/>
              </a:xfrm>
              <a:prstGeom prst="rect">
                <a:avLst/>
              </a:prstGeom>
            </p:spPr>
            <p:txBody>
              <a:bodyPr wrap="square">
                <a:spAutoFit/>
              </a:bodyPr>
              <a:lstStyle/>
              <a:p>
                <a:r>
                  <a:rPr lang="en-US" sz="2800" dirty="0"/>
                  <a:t>Is a very common logical fallacy which one takes a rule that is true and assumes that the converse also has to be true </a:t>
                </a:r>
                <a:r>
                  <a:rPr lang="en-US" sz="2800" b="1" dirty="0">
                    <a:latin typeface="+mj-lt"/>
                  </a:rPr>
                  <a:t>(p</a:t>
                </a:r>
                <a14:m>
                  <m:oMath xmlns:m="http://schemas.openxmlformats.org/officeDocument/2006/math">
                    <m:r>
                      <a:rPr lang="en-US" sz="2800" b="1" i="1" smtClean="0">
                        <a:latin typeface="Cambria Math" panose="02040503050406030204" pitchFamily="18" charset="0"/>
                        <a:ea typeface="Cambria Math" panose="02040503050406030204" pitchFamily="18" charset="0"/>
                      </a:rPr>
                      <m:t>→</m:t>
                    </m:r>
                  </m:oMath>
                </a14:m>
                <a:r>
                  <a:rPr lang="en-US" sz="2800" b="1" dirty="0">
                    <a:latin typeface="+mj-lt"/>
                  </a:rPr>
                  <a:t>q</a:t>
                </a:r>
                <a14:m>
                  <m:oMath xmlns:m="http://schemas.openxmlformats.org/officeDocument/2006/math">
                    <m:r>
                      <a:rPr lang="en-US" sz="2800" b="1" i="1" dirty="0" smtClean="0">
                        <a:latin typeface="Cambria Math" panose="02040503050406030204" pitchFamily="18" charset="0"/>
                        <a:ea typeface="Cambria Math" panose="02040503050406030204" pitchFamily="18" charset="0"/>
                      </a:rPr>
                      <m:t>≢</m:t>
                    </m:r>
                  </m:oMath>
                </a14:m>
                <a:r>
                  <a:rPr lang="en-US" sz="2800" b="1" dirty="0">
                    <a:latin typeface="+mj-lt"/>
                  </a:rPr>
                  <a:t>q</a:t>
                </a:r>
                <a14:m>
                  <m:oMath xmlns:m="http://schemas.openxmlformats.org/officeDocument/2006/math">
                    <m:r>
                      <a:rPr lang="en-US" sz="2800" b="1" i="1">
                        <a:latin typeface="Cambria Math" panose="02040503050406030204" pitchFamily="18" charset="0"/>
                        <a:ea typeface="Cambria Math" panose="02040503050406030204" pitchFamily="18" charset="0"/>
                      </a:rPr>
                      <m:t>→</m:t>
                    </m:r>
                  </m:oMath>
                </a14:m>
                <a:r>
                  <a:rPr lang="en-US" sz="2800" b="1" dirty="0">
                    <a:latin typeface="+mj-lt"/>
                  </a:rPr>
                  <a:t>p).</a:t>
                </a:r>
              </a:p>
              <a:p>
                <a:endParaRPr lang="en-US" sz="2800" b="1" dirty="0">
                  <a:latin typeface="+mj-lt"/>
                </a:endParaRPr>
              </a:p>
              <a:p>
                <a:r>
                  <a:rPr lang="en-US" sz="2400" dirty="0">
                    <a:latin typeface="+mj-lt"/>
                  </a:rPr>
                  <a:t>A converse error results from an invalid argument of the form:</a:t>
                </a:r>
              </a:p>
              <a:p>
                <a:pPr indent="914400"/>
                <a:r>
                  <a:rPr lang="en-US" sz="2400" dirty="0">
                    <a:latin typeface="+mj-lt"/>
                  </a:rPr>
                  <a:t>p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dirty="0">
                    <a:latin typeface="+mj-lt"/>
                  </a:rPr>
                  <a:t> q</a:t>
                </a:r>
              </a:p>
              <a:p>
                <a:pPr indent="914400"/>
                <a:r>
                  <a:rPr lang="en-US" sz="2400" dirty="0">
                    <a:latin typeface="+mj-lt"/>
                  </a:rPr>
                  <a:t>q</a:t>
                </a:r>
              </a:p>
              <a:p>
                <a:pPr indent="914400"/>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dirty="0">
                    <a:latin typeface="+mj-lt"/>
                  </a:rPr>
                  <a:t> p</a:t>
                </a:r>
              </a:p>
              <a:p>
                <a:endParaRPr lang="en-US" sz="2400" b="1" dirty="0">
                  <a:latin typeface="+mj-lt"/>
                </a:endParaRPr>
              </a:p>
              <a:p>
                <a:r>
                  <a:rPr lang="en-US" sz="2400" b="1" dirty="0">
                    <a:latin typeface="+mj-lt"/>
                  </a:rPr>
                  <a:t>Example 14</a:t>
                </a:r>
              </a:p>
              <a:p>
                <a:r>
                  <a:rPr lang="en-US" sz="2400" i="1" dirty="0">
                    <a:latin typeface="+mj-lt"/>
                  </a:rPr>
                  <a:t>If I work all night on the homework, then I can answer all the questions.</a:t>
                </a:r>
              </a:p>
              <a:p>
                <a:r>
                  <a:rPr lang="en-US" sz="2400" i="1" dirty="0">
                    <a:latin typeface="+mj-lt"/>
                  </a:rPr>
                  <a:t>I can answer all the questions. Therefore, I worked all night on the homework.</a:t>
                </a:r>
                <a:endParaRPr lang="en-US" dirty="0">
                  <a:latin typeface="+mj-lt"/>
                </a:endParaRPr>
              </a:p>
            </p:txBody>
          </p:sp>
        </mc:Choice>
        <mc:Fallback xmlns="">
          <p:sp>
            <p:nvSpPr>
              <p:cNvPr id="4" name="Rectangle 3"/>
              <p:cNvSpPr>
                <a:spLocks noRot="1" noChangeAspect="1" noMove="1" noResize="1" noEditPoints="1" noAdjustHandles="1" noChangeArrowheads="1" noChangeShapeType="1" noTextEdit="1"/>
              </p:cNvSpPr>
              <p:nvPr/>
            </p:nvSpPr>
            <p:spPr>
              <a:xfrm>
                <a:off x="1311579" y="1238250"/>
                <a:ext cx="10585146" cy="5139869"/>
              </a:xfrm>
              <a:prstGeom prst="rect">
                <a:avLst/>
              </a:prstGeom>
              <a:blipFill>
                <a:blip r:embed="rId2"/>
                <a:stretch>
                  <a:fillRect l="-1151" t="-1186" r="-1785" b="-1779"/>
                </a:stretch>
              </a:blipFill>
            </p:spPr>
            <p:txBody>
              <a:bodyPr/>
              <a:lstStyle/>
              <a:p>
                <a:r>
                  <a:rPr lang="en-US">
                    <a:noFill/>
                  </a:rPr>
                  <a:t> </a:t>
                </a:r>
              </a:p>
            </p:txBody>
          </p:sp>
        </mc:Fallback>
      </mc:AlternateContent>
    </p:spTree>
    <p:extLst>
      <p:ext uri="{BB962C8B-B14F-4D97-AF65-F5344CB8AC3E}">
        <p14:creationId xmlns:p14="http://schemas.microsoft.com/office/powerpoint/2010/main" val="110812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3C17577-0B44-47D5-BF4C-231DD1F36FC0}" type="slidenum">
              <a:rPr lang="en-US" smtClean="0"/>
              <a:t>10</a:t>
            </a:fld>
            <a:endParaRPr lang="en-US"/>
          </a:p>
        </p:txBody>
      </p:sp>
      <mc:AlternateContent xmlns:mc="http://schemas.openxmlformats.org/markup-compatibility/2006" xmlns:a14="http://schemas.microsoft.com/office/drawing/2010/main">
        <mc:Choice Requires="a14">
          <p:sp>
            <p:nvSpPr>
              <p:cNvPr id="6" name="Rectangle 5"/>
              <p:cNvSpPr/>
              <p:nvPr/>
            </p:nvSpPr>
            <p:spPr>
              <a:xfrm>
                <a:off x="1307385" y="1177855"/>
                <a:ext cx="10216400" cy="4893647"/>
              </a:xfrm>
              <a:prstGeom prst="rect">
                <a:avLst/>
              </a:prstGeom>
            </p:spPr>
            <p:txBody>
              <a:bodyPr wrap="square">
                <a:spAutoFit/>
              </a:bodyPr>
              <a:lstStyle/>
              <a:p>
                <a:r>
                  <a:rPr lang="en-US" sz="2400" dirty="0"/>
                  <a:t>Is a logical error in which one takes a rule that is true and assumes that the inverse also has to be true </a:t>
                </a:r>
                <a:r>
                  <a:rPr lang="en-US" sz="2400" b="1" dirty="0"/>
                  <a:t>(p</a:t>
                </a:r>
                <a14:m>
                  <m:oMath xmlns:m="http://schemas.openxmlformats.org/officeDocument/2006/math">
                    <m:r>
                      <a:rPr lang="en-US" sz="2400" b="1" i="1">
                        <a:latin typeface="Cambria Math" panose="02040503050406030204" pitchFamily="18" charset="0"/>
                        <a:ea typeface="Cambria Math" panose="02040503050406030204" pitchFamily="18" charset="0"/>
                      </a:rPr>
                      <m:t>→</m:t>
                    </m:r>
                  </m:oMath>
                </a14:m>
                <a:r>
                  <a:rPr lang="en-US" sz="2400" b="1" dirty="0"/>
                  <a:t>q</a:t>
                </a:r>
                <a14:m>
                  <m:oMath xmlns:m="http://schemas.openxmlformats.org/officeDocument/2006/math">
                    <m:r>
                      <a:rPr lang="en-US" sz="2400" b="1" i="1" dirty="0">
                        <a:latin typeface="Cambria Math" panose="02040503050406030204" pitchFamily="18" charset="0"/>
                        <a:ea typeface="Cambria Math" panose="02040503050406030204" pitchFamily="18" charset="0"/>
                      </a:rPr>
                      <m:t>≢</m:t>
                    </m:r>
                  </m:oMath>
                </a14:m>
                <a:r>
                  <a:rPr lang="en-US" sz="2400" b="1" dirty="0"/>
                  <a:t>¬p</a:t>
                </a:r>
                <a14:m>
                  <m:oMath xmlns:m="http://schemas.openxmlformats.org/officeDocument/2006/math">
                    <m:r>
                      <a:rPr lang="en-US" sz="2400" b="1" i="1">
                        <a:latin typeface="Cambria Math" panose="02040503050406030204" pitchFamily="18" charset="0"/>
                        <a:ea typeface="Cambria Math" panose="02040503050406030204" pitchFamily="18" charset="0"/>
                      </a:rPr>
                      <m:t>→</m:t>
                    </m:r>
                  </m:oMath>
                </a14:m>
                <a:r>
                  <a:rPr lang="en-US" sz="2400" b="1" dirty="0"/>
                  <a:t>¬q).</a:t>
                </a:r>
              </a:p>
              <a:p>
                <a:endParaRPr lang="en-US" sz="2400" dirty="0"/>
              </a:p>
              <a:p>
                <a:r>
                  <a:rPr lang="en-US" sz="2400" dirty="0"/>
                  <a:t>An inverse error results from an invalid argument of the form:</a:t>
                </a:r>
              </a:p>
              <a:p>
                <a:pPr indent="1828800"/>
                <a:r>
                  <a:rPr lang="en-US" sz="2400" dirty="0"/>
                  <a:t>p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dirty="0"/>
                  <a:t> q</a:t>
                </a:r>
              </a:p>
              <a:p>
                <a:pPr indent="1828800"/>
                <a:r>
                  <a:rPr lang="en-US" sz="2400" dirty="0"/>
                  <a:t>¬p</a:t>
                </a:r>
              </a:p>
              <a:p>
                <a:pPr indent="1828800"/>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dirty="0"/>
                  <a:t> ¬q</a:t>
                </a:r>
              </a:p>
              <a:p>
                <a:endParaRPr lang="en-US" sz="2400" b="1" dirty="0"/>
              </a:p>
              <a:p>
                <a:r>
                  <a:rPr lang="en-US" sz="2400" b="1" dirty="0"/>
                  <a:t>Example 15. </a:t>
                </a:r>
                <a:r>
                  <a:rPr lang="en-US" sz="2400" i="1" dirty="0"/>
                  <a:t>Here is an example of an inverse error:</a:t>
                </a:r>
              </a:p>
              <a:p>
                <a:endParaRPr lang="en-US" sz="2400" i="1" dirty="0"/>
              </a:p>
              <a:p>
                <a:r>
                  <a:rPr lang="en-US" sz="2400" i="1" dirty="0"/>
                  <a:t>If I have access to the internet, then I’ll get an A+.</a:t>
                </a:r>
              </a:p>
              <a:p>
                <a:r>
                  <a:rPr lang="en-US" sz="2400" i="1" dirty="0"/>
                  <a:t>I do not have access to the internet.</a:t>
                </a:r>
              </a:p>
              <a:p>
                <a:r>
                  <a:rPr lang="en-US" sz="2400" i="1" dirty="0"/>
                  <a:t>Therefore, I will not get an A+.</a:t>
                </a:r>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1307385" y="1177855"/>
                <a:ext cx="10216400" cy="4893647"/>
              </a:xfrm>
              <a:prstGeom prst="rect">
                <a:avLst/>
              </a:prstGeom>
              <a:blipFill rotWithShape="0">
                <a:blip r:embed="rId2"/>
                <a:stretch>
                  <a:fillRect l="-895" t="-996" b="-1868"/>
                </a:stretch>
              </a:blipFill>
            </p:spPr>
            <p:txBody>
              <a:bodyPr/>
              <a:lstStyle/>
              <a:p>
                <a:r>
                  <a:rPr lang="en-US">
                    <a:noFill/>
                  </a:rPr>
                  <a:t> </a:t>
                </a:r>
              </a:p>
            </p:txBody>
          </p:sp>
        </mc:Fallback>
      </mc:AlternateContent>
      <p:sp>
        <p:nvSpPr>
          <p:cNvPr id="4" name="Title 1"/>
          <p:cNvSpPr>
            <a:spLocks noGrp="1"/>
          </p:cNvSpPr>
          <p:nvPr>
            <p:ph type="title"/>
          </p:nvPr>
        </p:nvSpPr>
        <p:spPr>
          <a:xfrm>
            <a:off x="1673526" y="565130"/>
            <a:ext cx="8911687" cy="764743"/>
          </a:xfrm>
        </p:spPr>
        <p:txBody>
          <a:bodyPr/>
          <a:lstStyle/>
          <a:p>
            <a:r>
              <a:rPr lang="en-US" b="1" dirty="0"/>
              <a:t>Inverse Error</a:t>
            </a:r>
            <a:endParaRPr lang="en-US" dirty="0"/>
          </a:p>
        </p:txBody>
      </p:sp>
    </p:spTree>
    <p:extLst>
      <p:ext uri="{BB962C8B-B14F-4D97-AF65-F5344CB8AC3E}">
        <p14:creationId xmlns:p14="http://schemas.microsoft.com/office/powerpoint/2010/main" val="2724782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3C17577-0B44-47D5-BF4C-231DD1F36FC0}" type="slidenum">
              <a:rPr lang="en-US" smtClean="0"/>
              <a:t>11</a:t>
            </a:fld>
            <a:endParaRPr lang="en-US"/>
          </a:p>
        </p:txBody>
      </p:sp>
      <mc:AlternateContent xmlns:mc="http://schemas.openxmlformats.org/markup-compatibility/2006" xmlns:a14="http://schemas.microsoft.com/office/drawing/2010/main">
        <mc:Choice Requires="a14">
          <p:sp>
            <p:nvSpPr>
              <p:cNvPr id="6" name="Rectangle 5"/>
              <p:cNvSpPr/>
              <p:nvPr/>
            </p:nvSpPr>
            <p:spPr>
              <a:xfrm>
                <a:off x="1412222" y="1311657"/>
                <a:ext cx="9643968" cy="4893647"/>
              </a:xfrm>
              <a:prstGeom prst="rect">
                <a:avLst/>
              </a:prstGeom>
            </p:spPr>
            <p:txBody>
              <a:bodyPr wrap="square">
                <a:spAutoFit/>
              </a:bodyPr>
              <a:lstStyle/>
              <a:p>
                <a:r>
                  <a:rPr lang="en-US" sz="2400" dirty="0"/>
                  <a:t>The inverse error is a logical error in which one takes a rule that is true and assumes that the inverse also has to be true.</a:t>
                </a:r>
              </a:p>
              <a:p>
                <a:endParaRPr lang="en-US" sz="2400" dirty="0"/>
              </a:p>
              <a:p>
                <a:r>
                  <a:rPr lang="en-US" sz="2400" dirty="0"/>
                  <a:t>An inverse error results from an invalid argument of the form:</a:t>
                </a:r>
              </a:p>
              <a:p>
                <a:pPr indent="1828800"/>
                <a:r>
                  <a:rPr lang="en-US" sz="2400" dirty="0"/>
                  <a:t>p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dirty="0"/>
                  <a:t> q</a:t>
                </a:r>
              </a:p>
              <a:p>
                <a:pPr indent="1828800"/>
                <a:r>
                  <a:rPr lang="en-US" sz="2400" dirty="0"/>
                  <a:t>¬p</a:t>
                </a:r>
              </a:p>
              <a:p>
                <a:pPr indent="1828800"/>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dirty="0"/>
                  <a:t> ¬q</a:t>
                </a:r>
              </a:p>
              <a:p>
                <a:endParaRPr lang="en-US" sz="2400" b="1" dirty="0"/>
              </a:p>
              <a:p>
                <a:r>
                  <a:rPr lang="en-US" sz="2400" b="1" dirty="0"/>
                  <a:t>Example 16 </a:t>
                </a:r>
                <a:r>
                  <a:rPr lang="en-US" sz="2400" i="1" dirty="0"/>
                  <a:t>Here is an example of an inverse error:</a:t>
                </a:r>
              </a:p>
              <a:p>
                <a:endParaRPr lang="en-US" sz="2400" i="1" dirty="0"/>
              </a:p>
              <a:p>
                <a:r>
                  <a:rPr lang="en-US" sz="2400" i="1" dirty="0"/>
                  <a:t>If I have access to the internet, then I’ll get an A+.</a:t>
                </a:r>
              </a:p>
              <a:p>
                <a:r>
                  <a:rPr lang="en-US" sz="2400" i="1" dirty="0"/>
                  <a:t>I do not have access to the internet.</a:t>
                </a:r>
              </a:p>
              <a:p>
                <a:r>
                  <a:rPr lang="en-US" sz="2400" i="1" dirty="0"/>
                  <a:t>Therefore, I will not get an A+.</a:t>
                </a:r>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1412222" y="1311657"/>
                <a:ext cx="9643968" cy="4893647"/>
              </a:xfrm>
              <a:prstGeom prst="rect">
                <a:avLst/>
              </a:prstGeom>
              <a:blipFill>
                <a:blip r:embed="rId2"/>
                <a:stretch>
                  <a:fillRect l="-1011" t="-996" r="-1833" b="-1868"/>
                </a:stretch>
              </a:blipFill>
            </p:spPr>
            <p:txBody>
              <a:bodyPr/>
              <a:lstStyle/>
              <a:p>
                <a:r>
                  <a:rPr lang="en-US">
                    <a:noFill/>
                  </a:rPr>
                  <a:t> </a:t>
                </a:r>
              </a:p>
            </p:txBody>
          </p:sp>
        </mc:Fallback>
      </mc:AlternateContent>
      <p:sp>
        <p:nvSpPr>
          <p:cNvPr id="4" name="Title 1"/>
          <p:cNvSpPr>
            <a:spLocks noGrp="1"/>
          </p:cNvSpPr>
          <p:nvPr>
            <p:ph type="title"/>
          </p:nvPr>
        </p:nvSpPr>
        <p:spPr>
          <a:xfrm>
            <a:off x="1673526" y="565130"/>
            <a:ext cx="8911687" cy="764743"/>
          </a:xfrm>
        </p:spPr>
        <p:txBody>
          <a:bodyPr/>
          <a:lstStyle/>
          <a:p>
            <a:r>
              <a:rPr lang="en-US" b="1" dirty="0"/>
              <a:t>Inverse Error</a:t>
            </a:r>
            <a:endParaRPr lang="en-US" dirty="0"/>
          </a:p>
        </p:txBody>
      </p:sp>
    </p:spTree>
    <p:extLst>
      <p:ext uri="{BB962C8B-B14F-4D97-AF65-F5344CB8AC3E}">
        <p14:creationId xmlns:p14="http://schemas.microsoft.com/office/powerpoint/2010/main" val="3241020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3C17577-0B44-47D5-BF4C-231DD1F36FC0}" type="slidenum">
              <a:rPr lang="en-US" smtClean="0"/>
              <a:t>12</a:t>
            </a:fld>
            <a:endParaRPr lang="en-US"/>
          </a:p>
        </p:txBody>
      </p:sp>
      <p:sp>
        <p:nvSpPr>
          <p:cNvPr id="6" name="Rectangle 5"/>
          <p:cNvSpPr/>
          <p:nvPr/>
        </p:nvSpPr>
        <p:spPr>
          <a:xfrm>
            <a:off x="1412222" y="1311657"/>
            <a:ext cx="9643968" cy="4154984"/>
          </a:xfrm>
          <a:prstGeom prst="rect">
            <a:avLst/>
          </a:prstGeom>
        </p:spPr>
        <p:txBody>
          <a:bodyPr wrap="square">
            <a:spAutoFit/>
          </a:bodyPr>
          <a:lstStyle/>
          <a:p>
            <a:r>
              <a:rPr lang="en-US" sz="2400" dirty="0"/>
              <a:t>Which of the following error, </a:t>
            </a:r>
            <a:r>
              <a:rPr lang="en-US" sz="2400" i="1" dirty="0">
                <a:solidFill>
                  <a:schemeClr val="accent1">
                    <a:lumMod val="75000"/>
                  </a:schemeClr>
                </a:solidFill>
              </a:rPr>
              <a:t>inverse</a:t>
            </a:r>
            <a:r>
              <a:rPr lang="en-US" sz="2400" dirty="0"/>
              <a:t> or </a:t>
            </a:r>
            <a:r>
              <a:rPr lang="en-US" sz="2400" dirty="0">
                <a:solidFill>
                  <a:schemeClr val="accent1">
                    <a:lumMod val="75000"/>
                  </a:schemeClr>
                </a:solidFill>
              </a:rPr>
              <a:t>converse</a:t>
            </a:r>
            <a:r>
              <a:rPr lang="en-US" sz="2400" dirty="0"/>
              <a:t> error committed in the reasoning?</a:t>
            </a:r>
          </a:p>
          <a:p>
            <a:endParaRPr lang="en-US" sz="2400" b="1" dirty="0"/>
          </a:p>
          <a:p>
            <a:pPr marL="457200" indent="-457200">
              <a:buFont typeface="+mj-lt"/>
              <a:buAutoNum type="alphaLcParenR"/>
            </a:pPr>
            <a:r>
              <a:rPr lang="en-US" sz="2400" i="1" dirty="0"/>
              <a:t>If you study, then you would get a good grade.</a:t>
            </a:r>
          </a:p>
          <a:p>
            <a:r>
              <a:rPr lang="en-US" sz="2400" i="1" dirty="0"/>
              <a:t>          You get a good grade.</a:t>
            </a:r>
          </a:p>
          <a:p>
            <a:r>
              <a:rPr lang="en-US" sz="2400" i="1" dirty="0"/>
              <a:t>          Therefore, you studied.</a:t>
            </a:r>
          </a:p>
          <a:p>
            <a:endParaRPr lang="en-US" sz="2400" i="1" dirty="0"/>
          </a:p>
          <a:p>
            <a:pPr marL="457200" indent="-457200">
              <a:buFont typeface="+mj-lt"/>
              <a:buAutoNum type="alphaLcParenR"/>
            </a:pPr>
            <a:r>
              <a:rPr lang="en-US" sz="2400" i="1" dirty="0"/>
              <a:t>If you study, then you would get a good grade.</a:t>
            </a:r>
          </a:p>
          <a:p>
            <a:r>
              <a:rPr lang="en-US" sz="2400" i="1" dirty="0"/>
              <a:t>		You did not study.</a:t>
            </a:r>
          </a:p>
          <a:p>
            <a:r>
              <a:rPr lang="en-US" sz="2400" i="1" dirty="0"/>
              <a:t> 		Therefore, you would not get a good grade.</a:t>
            </a:r>
          </a:p>
          <a:p>
            <a:endParaRPr lang="en-US" sz="2400" i="1" dirty="0"/>
          </a:p>
        </p:txBody>
      </p:sp>
      <p:sp>
        <p:nvSpPr>
          <p:cNvPr id="4" name="Title 1"/>
          <p:cNvSpPr>
            <a:spLocks noGrp="1"/>
          </p:cNvSpPr>
          <p:nvPr>
            <p:ph type="title"/>
          </p:nvPr>
        </p:nvSpPr>
        <p:spPr>
          <a:xfrm>
            <a:off x="1673526" y="565130"/>
            <a:ext cx="8911687" cy="764743"/>
          </a:xfrm>
        </p:spPr>
        <p:txBody>
          <a:bodyPr/>
          <a:lstStyle/>
          <a:p>
            <a:r>
              <a:rPr lang="en-US" b="1" dirty="0"/>
              <a:t>Example 17</a:t>
            </a:r>
            <a:endParaRPr lang="en-US" dirty="0"/>
          </a:p>
        </p:txBody>
      </p:sp>
    </p:spTree>
    <p:extLst>
      <p:ext uri="{BB962C8B-B14F-4D97-AF65-F5344CB8AC3E}">
        <p14:creationId xmlns:p14="http://schemas.microsoft.com/office/powerpoint/2010/main" val="188142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7536" y="695995"/>
            <a:ext cx="8911687" cy="592215"/>
          </a:xfrm>
        </p:spPr>
        <p:txBody>
          <a:bodyPr>
            <a:normAutofit fontScale="90000"/>
          </a:bodyPr>
          <a:lstStyle/>
          <a:p>
            <a:r>
              <a:rPr lang="en-US" b="1" dirty="0"/>
              <a:t>Rules of Inference</a:t>
            </a:r>
          </a:p>
        </p:txBody>
      </p:sp>
      <p:sp>
        <p:nvSpPr>
          <p:cNvPr id="3" name="Content Placeholder 2"/>
          <p:cNvSpPr>
            <a:spLocks noGrp="1"/>
          </p:cNvSpPr>
          <p:nvPr>
            <p:ph idx="1"/>
          </p:nvPr>
        </p:nvSpPr>
        <p:spPr>
          <a:xfrm>
            <a:off x="1162050" y="1438945"/>
            <a:ext cx="5972175" cy="3971255"/>
          </a:xfrm>
          <a:noFill/>
        </p:spPr>
        <p:txBody>
          <a:bodyPr>
            <a:noAutofit/>
          </a:bodyPr>
          <a:lstStyle/>
          <a:p>
            <a:r>
              <a:rPr lang="en-US" sz="2400" dirty="0">
                <a:solidFill>
                  <a:schemeClr val="tx1"/>
                </a:solidFill>
              </a:rPr>
              <a:t>When an argument becomes too complicated, it is no longer practical to analyze it using a truth table.</a:t>
            </a:r>
          </a:p>
          <a:p>
            <a:r>
              <a:rPr lang="en-US" sz="2400" dirty="0">
                <a:solidFill>
                  <a:schemeClr val="tx1"/>
                </a:solidFill>
              </a:rPr>
              <a:t>We can apply rules of inference to check that an argument is valid. </a:t>
            </a:r>
          </a:p>
          <a:p>
            <a:r>
              <a:rPr lang="en-US" sz="2400" dirty="0">
                <a:solidFill>
                  <a:schemeClr val="tx1"/>
                </a:solidFill>
              </a:rPr>
              <a:t>Rules of Inference provide the templates or guidelines for constructing valid arguments from the statements that we already have.</a:t>
            </a:r>
          </a:p>
          <a:p>
            <a:pPr marL="0" indent="0">
              <a:buNone/>
            </a:pPr>
            <a:endParaRPr lang="en-US" sz="2400" dirty="0">
              <a:solidFill>
                <a:schemeClr val="tx1"/>
              </a:solidFill>
            </a:endParaRPr>
          </a:p>
          <a:p>
            <a:pPr marL="0" indent="0">
              <a:buNone/>
            </a:pPr>
            <a:endParaRPr lang="en-US" sz="28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13</a:t>
            </a:fld>
            <a:endParaRPr lang="en-US"/>
          </a:p>
        </p:txBody>
      </p:sp>
      <p:pic>
        <p:nvPicPr>
          <p:cNvPr id="6" name="Picture 5"/>
          <p:cNvPicPr>
            <a:picLocks noChangeAspect="1"/>
          </p:cNvPicPr>
          <p:nvPr/>
        </p:nvPicPr>
        <p:blipFill>
          <a:blip r:embed="rId2"/>
          <a:stretch>
            <a:fillRect/>
          </a:stretch>
        </p:blipFill>
        <p:spPr>
          <a:xfrm>
            <a:off x="7251128" y="295943"/>
            <a:ext cx="4312221" cy="6322827"/>
          </a:xfrm>
          <a:prstGeom prst="rect">
            <a:avLst/>
          </a:prstGeom>
        </p:spPr>
      </p:pic>
    </p:spTree>
    <p:extLst>
      <p:ext uri="{BB962C8B-B14F-4D97-AF65-F5344CB8AC3E}">
        <p14:creationId xmlns:p14="http://schemas.microsoft.com/office/powerpoint/2010/main" val="216533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1280890"/>
          </a:xfrm>
        </p:spPr>
        <p:txBody>
          <a:bodyPr/>
          <a:lstStyle/>
          <a:p>
            <a:pPr marR="30480">
              <a:lnSpc>
                <a:spcPct val="107000"/>
              </a:lnSpc>
              <a:spcBef>
                <a:spcPts val="240"/>
              </a:spcBef>
              <a:spcAft>
                <a:spcPts val="240"/>
              </a:spcAft>
            </a:pPr>
            <a:r>
              <a:rPr lang="en-US" spc="-75" dirty="0">
                <a:solidFill>
                  <a:srgbClr val="121214"/>
                </a:solidFill>
                <a:latin typeface="Verdana" panose="020B0604030504040204" pitchFamily="34" charset="0"/>
                <a:ea typeface="Times New Roman" panose="02020603050405020304" pitchFamily="18" charset="0"/>
                <a:cs typeface="Times New Roman" panose="02020603050405020304" pitchFamily="18" charset="0"/>
              </a:rPr>
              <a:t>Modus Ponens</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p:cNvSpPr>
            <a:spLocks noGrp="1"/>
          </p:cNvSpPr>
          <p:nvPr>
            <p:ph idx="1"/>
          </p:nvPr>
        </p:nvSpPr>
        <p:spPr>
          <a:xfrm>
            <a:off x="1311578" y="1264555"/>
            <a:ext cx="9946971" cy="5069571"/>
          </a:xfrm>
          <a:noFill/>
        </p:spPr>
        <p:txBody>
          <a:bodyPr vert="horz" lIns="91440" tIns="45720" rIns="91440" bIns="45720" rtlCol="0">
            <a:noAutofit/>
          </a:bodyPr>
          <a:lstStyle/>
          <a:p>
            <a:pPr marL="0" indent="0">
              <a:buNone/>
            </a:pPr>
            <a:r>
              <a:rPr lang="en-US" sz="2400" dirty="0">
                <a:solidFill>
                  <a:schemeClr val="tx1"/>
                </a:solidFill>
              </a:rPr>
              <a:t>If p and </a:t>
            </a:r>
            <a:r>
              <a:rPr lang="en-US" sz="2400" dirty="0" err="1">
                <a:solidFill>
                  <a:schemeClr val="tx1"/>
                </a:solidFill>
              </a:rPr>
              <a:t>p→q</a:t>
            </a:r>
            <a:r>
              <a:rPr lang="en-US" sz="2400" dirty="0">
                <a:solidFill>
                  <a:schemeClr val="tx1"/>
                </a:solidFill>
              </a:rPr>
              <a:t> are two premises,</a:t>
            </a:r>
          </a:p>
          <a:p>
            <a:pPr marL="0" indent="0">
              <a:buNone/>
            </a:pPr>
            <a:r>
              <a:rPr lang="en-US" sz="2400" dirty="0">
                <a:solidFill>
                  <a:schemeClr val="tx1"/>
                </a:solidFill>
              </a:rPr>
              <a:t>we can use Modus Ponens to derive q.</a:t>
            </a:r>
          </a:p>
          <a:p>
            <a:pPr marL="0" indent="914400">
              <a:buNone/>
            </a:pPr>
            <a:r>
              <a:rPr lang="en-US" sz="2400" dirty="0" err="1">
                <a:solidFill>
                  <a:schemeClr val="tx1"/>
                </a:solidFill>
              </a:rPr>
              <a:t>p→q</a:t>
            </a:r>
            <a:endParaRPr lang="en-US" sz="2400" dirty="0">
              <a:solidFill>
                <a:schemeClr val="tx1"/>
              </a:solidFill>
            </a:endParaRPr>
          </a:p>
          <a:p>
            <a:pPr marL="0" indent="914400">
              <a:buNone/>
            </a:pPr>
            <a:r>
              <a:rPr lang="en-US" sz="2400" dirty="0">
                <a:solidFill>
                  <a:schemeClr val="tx1"/>
                </a:solidFill>
              </a:rPr>
              <a:t>p</a:t>
            </a:r>
          </a:p>
          <a:p>
            <a:pPr marL="0" indent="914400">
              <a:buNone/>
            </a:pPr>
            <a:r>
              <a:rPr lang="en-US" sz="2400" dirty="0">
                <a:solidFill>
                  <a:schemeClr val="tx1"/>
                </a:solidFill>
              </a:rPr>
              <a:t>∴q</a:t>
            </a:r>
          </a:p>
          <a:p>
            <a:pPr marL="0" indent="0">
              <a:buNone/>
            </a:pPr>
            <a:endParaRPr lang="en-US" sz="2400" dirty="0">
              <a:solidFill>
                <a:schemeClr val="tx1"/>
              </a:solidFill>
            </a:endParaRPr>
          </a:p>
          <a:p>
            <a:pPr marL="0" indent="0">
              <a:buNone/>
            </a:pPr>
            <a:r>
              <a:rPr lang="en-US" sz="2400" b="1" dirty="0">
                <a:solidFill>
                  <a:schemeClr val="tx1"/>
                </a:solidFill>
              </a:rPr>
              <a:t>Example 3</a:t>
            </a:r>
          </a:p>
          <a:p>
            <a:pPr marL="0" indent="0">
              <a:buNone/>
            </a:pPr>
            <a:r>
              <a:rPr lang="en-US" sz="2400" dirty="0">
                <a:solidFill>
                  <a:schemeClr val="tx1"/>
                </a:solidFill>
              </a:rPr>
              <a:t>"If you have a password, then you can log on to </a:t>
            </a:r>
            <a:r>
              <a:rPr lang="en-US" sz="2400" dirty="0" err="1">
                <a:solidFill>
                  <a:schemeClr val="tx1"/>
                </a:solidFill>
              </a:rPr>
              <a:t>facebook</a:t>
            </a:r>
            <a:r>
              <a:rPr lang="en-US" sz="2400" dirty="0">
                <a:solidFill>
                  <a:schemeClr val="tx1"/>
                </a:solidFill>
              </a:rPr>
              <a:t>", </a:t>
            </a:r>
            <a:r>
              <a:rPr lang="en-US" sz="2400" dirty="0" err="1">
                <a:solidFill>
                  <a:schemeClr val="tx1"/>
                </a:solidFill>
              </a:rPr>
              <a:t>p→q</a:t>
            </a:r>
            <a:endParaRPr lang="en-US" sz="2400" dirty="0">
              <a:solidFill>
                <a:schemeClr val="tx1"/>
              </a:solidFill>
            </a:endParaRPr>
          </a:p>
          <a:p>
            <a:pPr marL="0" indent="0">
              <a:buNone/>
            </a:pPr>
            <a:r>
              <a:rPr lang="en-US" sz="2400" dirty="0">
                <a:solidFill>
                  <a:schemeClr val="tx1"/>
                </a:solidFill>
              </a:rPr>
              <a:t>"You have a password", p</a:t>
            </a:r>
          </a:p>
          <a:p>
            <a:pPr marL="0" indent="0">
              <a:buNone/>
            </a:pPr>
            <a:r>
              <a:rPr lang="en-US" sz="2400" dirty="0">
                <a:solidFill>
                  <a:schemeClr val="tx1"/>
                </a:solidFill>
              </a:rPr>
              <a:t>Therefore − "You can log on to </a:t>
            </a:r>
            <a:r>
              <a:rPr lang="en-US" sz="2400" dirty="0" err="1">
                <a:solidFill>
                  <a:schemeClr val="tx1"/>
                </a:solidFill>
              </a:rPr>
              <a:t>facebook</a:t>
            </a:r>
            <a:r>
              <a:rPr lang="en-US" sz="2400" dirty="0">
                <a:solidFill>
                  <a:schemeClr val="tx1"/>
                </a:solidFill>
              </a:rPr>
              <a:t>“ q</a:t>
            </a:r>
          </a:p>
          <a:p>
            <a:pPr marL="0" indent="0">
              <a:buNone/>
            </a:pP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14</a:t>
            </a:fld>
            <a:endParaRPr lang="en-US"/>
          </a:p>
        </p:txBody>
      </p:sp>
    </p:spTree>
    <p:extLst>
      <p:ext uri="{BB962C8B-B14F-4D97-AF65-F5344CB8AC3E}">
        <p14:creationId xmlns:p14="http://schemas.microsoft.com/office/powerpoint/2010/main" val="73884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1280890"/>
          </a:xfrm>
        </p:spPr>
        <p:txBody>
          <a:bodyPr/>
          <a:lstStyle/>
          <a:p>
            <a:pPr marR="30480">
              <a:lnSpc>
                <a:spcPct val="107000"/>
              </a:lnSpc>
              <a:spcBef>
                <a:spcPts val="240"/>
              </a:spcBef>
              <a:spcAft>
                <a:spcPts val="240"/>
              </a:spcAft>
            </a:pPr>
            <a:r>
              <a:rPr lang="en-US" spc="-75" dirty="0">
                <a:solidFill>
                  <a:srgbClr val="121214"/>
                </a:solidFill>
                <a:latin typeface="Verdana" panose="020B0604030504040204" pitchFamily="34" charset="0"/>
                <a:ea typeface="Times New Roman" panose="02020603050405020304" pitchFamily="18" charset="0"/>
                <a:cs typeface="Times New Roman" panose="02020603050405020304" pitchFamily="18" charset="0"/>
              </a:rPr>
              <a:t>Example 4</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Content Placeholder 2"/>
          <p:cNvSpPr>
            <a:spLocks noGrp="1"/>
          </p:cNvSpPr>
          <p:nvPr>
            <p:ph idx="1"/>
          </p:nvPr>
        </p:nvSpPr>
        <p:spPr>
          <a:xfrm>
            <a:off x="1311578" y="1264555"/>
            <a:ext cx="9946971" cy="2303411"/>
          </a:xfrm>
          <a:noFill/>
        </p:spPr>
        <p:txBody>
          <a:bodyPr vert="horz" lIns="91440" tIns="45720" rIns="91440" bIns="45720" rtlCol="0">
            <a:noAutofit/>
          </a:bodyPr>
          <a:lstStyle/>
          <a:p>
            <a:pPr marL="0" lvl="0" indent="0" defTabSz="914400" eaLnBrk="0" fontAlgn="base" hangingPunct="0">
              <a:spcBef>
                <a:spcPct val="0"/>
              </a:spcBef>
              <a:spcAft>
                <a:spcPct val="0"/>
              </a:spcAft>
              <a:buClrTx/>
              <a:buNone/>
            </a:pPr>
            <a:r>
              <a:rPr lang="en-US" altLang="en-US" sz="2400" dirty="0">
                <a:solidFill>
                  <a:srgbClr val="000000"/>
                </a:solidFill>
                <a:latin typeface="Times New Roman" panose="02020603050405020304" pitchFamily="18" charset="0"/>
                <a:cs typeface="Times New Roman" panose="02020603050405020304" pitchFamily="18" charset="0"/>
              </a:rPr>
              <a:t>Note that the “p" and “q" in the modus ponens rule can actually stand for compound statements --- they don't have to be "single letters". For example:</a:t>
            </a:r>
            <a:endParaRPr lang="en-US" altLang="en-US" sz="2400" dirty="0">
              <a:solidFill>
                <a:schemeClr val="tx1"/>
              </a:solidFill>
            </a:endParaRPr>
          </a:p>
          <a:p>
            <a:pPr marL="0" lvl="0" indent="0" algn="ctr" defTabSz="914400" eaLnBrk="0" fontAlgn="base" hangingPunct="0">
              <a:spcBef>
                <a:spcPct val="0"/>
              </a:spcBef>
              <a:spcAft>
                <a:spcPct val="0"/>
              </a:spcAft>
              <a:buClrTx/>
              <a:buNone/>
            </a:pPr>
            <a:r>
              <a:rPr lang="en-US" altLang="en-US" sz="2400" dirty="0">
                <a:solidFill>
                  <a:srgbClr val="000000"/>
                </a:solidFill>
                <a:latin typeface="Times New Roman" panose="02020603050405020304" pitchFamily="18" charset="0"/>
                <a:cs typeface="Times New Roman" panose="02020603050405020304" pitchFamily="18" charset="0"/>
              </a:rPr>
              <a:t>  </a:t>
            </a:r>
            <a:endParaRPr lang="en-US" altLang="en-US" sz="5400" dirty="0">
              <a:solidFill>
                <a:srgbClr val="000000"/>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15</a:t>
            </a:fld>
            <a:endParaRPr lang="en-US"/>
          </a:p>
        </p:txBody>
      </p:sp>
      <p:pic>
        <p:nvPicPr>
          <p:cNvPr id="11" name="Picture 6" descr="$$\matrix{ 1. \hfill &amp; (A \lor \lnot B) \ifthen \lnot C \hfill &amp; \hbox{Premise} \hfill \cr 2. \hfill &amp; \lnot D \hfill &amp; \hbox{Premise} \hfill \cr 3. \hfill &amp; A \lor \lnot B \hfill &amp; \hbox{Premise} \hfill \cr 4. \hfill &amp; \lnot C \hfill &amp; \hbox{Modus ponens (1, 3)} \hfill \c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9476" y="2196546"/>
            <a:ext cx="5560826" cy="137142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a:spLocks noChangeArrowheads="1"/>
          </p:cNvSpPr>
          <p:nvPr/>
        </p:nvSpPr>
        <p:spPr bwMode="auto">
          <a:xfrm>
            <a:off x="1365255" y="3573959"/>
            <a:ext cx="921035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Note: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 taking the place of p in the modus ponens rule, and 	   is taking the place of q. That is,  	     and              are </a:t>
            </a:r>
            <a:r>
              <a:rPr kumimoji="0" lang="en-US" altLang="en-US"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compound statements</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which are substituted for “p" and “q" in modus ponens.</a:t>
            </a:r>
            <a:endParaRPr kumimoji="0" lang="en-US" altLang="en-US" sz="20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if-then statement                  	 is listed first and the "if"-part            is listed second. It doesn't matter which one has been written down first, and as long as both pieces have already been written down, you may apply modus ponens.</a:t>
            </a:r>
            <a:endParaRPr kumimoji="0" lang="en-US" altLang="en-US" sz="20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statement                didn't take part in the modus ponens step. Perhaps this is part of a bigger proof, and           will be used later. The fact that it came between the two modus ponens pieces doesn't make a difference.</a:t>
            </a:r>
          </a:p>
        </p:txBody>
      </p:sp>
      <p:pic>
        <p:nvPicPr>
          <p:cNvPr id="1032" name="Picture 8" descr="$A \lor \lnot 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9813" y="3956117"/>
            <a:ext cx="839326" cy="259242"/>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lnot 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5267" y="3989208"/>
            <a:ext cx="390501" cy="22615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 \lor \lnot 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5689" y="4286930"/>
            <a:ext cx="753118" cy="232615"/>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lnot 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1743" y="4300397"/>
            <a:ext cx="381708" cy="22105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 \lor \lnot B) \ifthen \lnot&#10;   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92720" y="4867219"/>
            <a:ext cx="1510035" cy="304915"/>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lnot&#10;   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3365" y="4876401"/>
            <a:ext cx="436174" cy="25260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lnot 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6823" y="5751145"/>
            <a:ext cx="570245" cy="310821"/>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lnot 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2248" y="6079222"/>
            <a:ext cx="502499" cy="273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553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640445"/>
          </a:xfrm>
        </p:spPr>
        <p:txBody>
          <a:bodyPr>
            <a:normAutofit/>
          </a:bodyPr>
          <a:lstStyle/>
          <a:p>
            <a:r>
              <a:rPr lang="en-US" spc="-75" dirty="0">
                <a:solidFill>
                  <a:srgbClr val="121214"/>
                </a:solidFill>
                <a:latin typeface="Verdana" panose="020B0604030504040204" pitchFamily="34" charset="0"/>
                <a:ea typeface="Times New Roman" panose="02020603050405020304" pitchFamily="18" charset="0"/>
                <a:cs typeface="Times New Roman" panose="02020603050405020304" pitchFamily="18" charset="0"/>
              </a:rPr>
              <a:t>Modus </a:t>
            </a:r>
            <a:r>
              <a:rPr lang="en-US" spc="-75" dirty="0" err="1">
                <a:solidFill>
                  <a:srgbClr val="121214"/>
                </a:solidFill>
                <a:latin typeface="Verdana" panose="020B0604030504040204" pitchFamily="34" charset="0"/>
                <a:ea typeface="Times New Roman" panose="02020603050405020304" pitchFamily="18" charset="0"/>
                <a:cs typeface="Times New Roman" panose="02020603050405020304" pitchFamily="18" charset="0"/>
              </a:rPr>
              <a:t>Tollens</a:t>
            </a:r>
            <a:endParaRPr lang="en-US" spc="-75" dirty="0">
              <a:solidFill>
                <a:srgbClr val="121214"/>
              </a:solidFill>
              <a:latin typeface="Verdana" panose="020B0604030504040204" pitchFamily="34" charset="0"/>
              <a:ea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11578" y="1264555"/>
            <a:ext cx="9946971" cy="5069571"/>
          </a:xfrm>
          <a:noFill/>
        </p:spPr>
        <p:txBody>
          <a:bodyPr vert="horz" lIns="91440" tIns="45720" rIns="91440" bIns="45720" rtlCol="0">
            <a:noAutofit/>
          </a:bodyPr>
          <a:lstStyle/>
          <a:p>
            <a:pPr marL="0" indent="0">
              <a:buNone/>
            </a:pPr>
            <a:r>
              <a:rPr lang="en-US" sz="2400" dirty="0">
                <a:solidFill>
                  <a:schemeClr val="tx1"/>
                </a:solidFill>
              </a:rPr>
              <a:t>If </a:t>
            </a:r>
            <a:r>
              <a:rPr lang="en-US" sz="2400" dirty="0" err="1">
                <a:solidFill>
                  <a:schemeClr val="tx1"/>
                </a:solidFill>
              </a:rPr>
              <a:t>p→q</a:t>
            </a:r>
            <a:r>
              <a:rPr lang="en-US" sz="2400" dirty="0">
                <a:solidFill>
                  <a:schemeClr val="tx1"/>
                </a:solidFill>
              </a:rPr>
              <a:t> and ¬q are two premises, </a:t>
            </a:r>
          </a:p>
          <a:p>
            <a:pPr marL="0" indent="0">
              <a:buNone/>
            </a:pPr>
            <a:r>
              <a:rPr lang="en-US" sz="2400" dirty="0">
                <a:solidFill>
                  <a:schemeClr val="tx1"/>
                </a:solidFill>
              </a:rPr>
              <a:t>we can use Modus </a:t>
            </a:r>
            <a:r>
              <a:rPr lang="en-US" sz="2400" dirty="0" err="1">
                <a:solidFill>
                  <a:schemeClr val="tx1"/>
                </a:solidFill>
              </a:rPr>
              <a:t>Tollens</a:t>
            </a:r>
            <a:r>
              <a:rPr lang="en-US" sz="2400" dirty="0">
                <a:solidFill>
                  <a:schemeClr val="tx1"/>
                </a:solidFill>
              </a:rPr>
              <a:t> to derive ¬p.</a:t>
            </a:r>
          </a:p>
          <a:p>
            <a:pPr marL="0" indent="1371600">
              <a:buNone/>
            </a:pPr>
            <a:r>
              <a:rPr lang="en-US" sz="2400" dirty="0" err="1">
                <a:solidFill>
                  <a:schemeClr val="tx1"/>
                </a:solidFill>
              </a:rPr>
              <a:t>p→q</a:t>
            </a:r>
            <a:endParaRPr lang="en-US" sz="2400" dirty="0">
              <a:solidFill>
                <a:schemeClr val="tx1"/>
              </a:solidFill>
            </a:endParaRPr>
          </a:p>
          <a:p>
            <a:pPr marL="0" indent="1371600">
              <a:buNone/>
            </a:pPr>
            <a:r>
              <a:rPr lang="en-US" sz="2400" dirty="0">
                <a:solidFill>
                  <a:schemeClr val="tx1"/>
                </a:solidFill>
              </a:rPr>
              <a:t>¬q</a:t>
            </a:r>
          </a:p>
          <a:p>
            <a:pPr marL="0" indent="1371600">
              <a:buNone/>
            </a:pPr>
            <a:r>
              <a:rPr lang="en-US" sz="2400" dirty="0">
                <a:solidFill>
                  <a:schemeClr val="tx1"/>
                </a:solidFill>
              </a:rPr>
              <a:t>∴¬p</a:t>
            </a:r>
          </a:p>
          <a:p>
            <a:pPr marL="0" indent="0">
              <a:buNone/>
            </a:pPr>
            <a:r>
              <a:rPr lang="en-US" sz="2400" b="1" dirty="0">
                <a:solidFill>
                  <a:schemeClr val="tx1"/>
                </a:solidFill>
              </a:rPr>
              <a:t>Example 5</a:t>
            </a:r>
          </a:p>
          <a:p>
            <a:pPr marL="0" indent="0">
              <a:buNone/>
            </a:pPr>
            <a:r>
              <a:rPr lang="en-US" sz="2400" dirty="0">
                <a:solidFill>
                  <a:schemeClr val="tx1"/>
                </a:solidFill>
              </a:rPr>
              <a:t>"If you have a password, then you can log on to </a:t>
            </a:r>
            <a:r>
              <a:rPr lang="en-US" sz="2400" dirty="0" err="1">
                <a:solidFill>
                  <a:schemeClr val="tx1"/>
                </a:solidFill>
              </a:rPr>
              <a:t>facebook</a:t>
            </a:r>
            <a:r>
              <a:rPr lang="en-US" sz="2400" dirty="0">
                <a:solidFill>
                  <a:schemeClr val="tx1"/>
                </a:solidFill>
              </a:rPr>
              <a:t>", </a:t>
            </a:r>
            <a:r>
              <a:rPr lang="en-US" sz="2400" dirty="0" err="1">
                <a:solidFill>
                  <a:schemeClr val="tx1"/>
                </a:solidFill>
              </a:rPr>
              <a:t>p→q</a:t>
            </a:r>
            <a:endParaRPr lang="en-US" sz="2400" dirty="0">
              <a:solidFill>
                <a:schemeClr val="tx1"/>
              </a:solidFill>
            </a:endParaRPr>
          </a:p>
          <a:p>
            <a:pPr marL="0" indent="0">
              <a:buNone/>
            </a:pPr>
            <a:r>
              <a:rPr lang="en-US" sz="2400" dirty="0">
                <a:solidFill>
                  <a:schemeClr val="tx1"/>
                </a:solidFill>
              </a:rPr>
              <a:t>"You cannot log on to </a:t>
            </a:r>
            <a:r>
              <a:rPr lang="en-US" sz="2400" dirty="0" err="1">
                <a:solidFill>
                  <a:schemeClr val="tx1"/>
                </a:solidFill>
              </a:rPr>
              <a:t>facebook</a:t>
            </a:r>
            <a:r>
              <a:rPr lang="en-US" sz="2400" dirty="0">
                <a:solidFill>
                  <a:schemeClr val="tx1"/>
                </a:solidFill>
              </a:rPr>
              <a:t>", ¬q</a:t>
            </a:r>
          </a:p>
          <a:p>
            <a:pPr marL="0" indent="0">
              <a:buNone/>
            </a:pPr>
            <a:r>
              <a:rPr lang="en-US" sz="2400" dirty="0">
                <a:solidFill>
                  <a:schemeClr val="tx1"/>
                </a:solidFill>
              </a:rPr>
              <a:t>Therefore − "You do not have a password "</a:t>
            </a:r>
          </a:p>
          <a:p>
            <a:pPr marL="0" indent="0">
              <a:buNone/>
            </a:pPr>
            <a:endParaRPr lang="en-US" sz="32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16</a:t>
            </a:fld>
            <a:endParaRPr lang="en-US"/>
          </a:p>
        </p:txBody>
      </p:sp>
    </p:spTree>
    <p:extLst>
      <p:ext uri="{BB962C8B-B14F-4D97-AF65-F5344CB8AC3E}">
        <p14:creationId xmlns:p14="http://schemas.microsoft.com/office/powerpoint/2010/main" val="743960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640445"/>
          </a:xfrm>
        </p:spPr>
        <p:txBody>
          <a:bodyPr>
            <a:normAutofit/>
          </a:bodyPr>
          <a:lstStyle/>
          <a:p>
            <a:r>
              <a:rPr lang="en-US" spc="-75" dirty="0">
                <a:solidFill>
                  <a:srgbClr val="121214"/>
                </a:solidFill>
                <a:latin typeface="Verdana" panose="020B0604030504040204" pitchFamily="34" charset="0"/>
                <a:ea typeface="Times New Roman" panose="02020603050405020304" pitchFamily="18" charset="0"/>
                <a:cs typeface="Times New Roman" panose="02020603050405020304" pitchFamily="18" charset="0"/>
              </a:rPr>
              <a:t>Addition</a:t>
            </a:r>
          </a:p>
        </p:txBody>
      </p:sp>
      <p:sp>
        <p:nvSpPr>
          <p:cNvPr id="3" name="Content Placeholder 2"/>
          <p:cNvSpPr>
            <a:spLocks noGrp="1"/>
          </p:cNvSpPr>
          <p:nvPr>
            <p:ph idx="1"/>
          </p:nvPr>
        </p:nvSpPr>
        <p:spPr>
          <a:xfrm>
            <a:off x="921695" y="2769505"/>
            <a:ext cx="10698805" cy="3726545"/>
          </a:xfrm>
          <a:noFill/>
        </p:spPr>
        <p:txBody>
          <a:bodyPr vert="horz" lIns="91440" tIns="45720" rIns="91440" bIns="45720" rtlCol="0">
            <a:noAutofit/>
          </a:bodyPr>
          <a:lstStyle/>
          <a:p>
            <a:pPr marL="0" indent="0">
              <a:buNone/>
            </a:pPr>
            <a:r>
              <a:rPr lang="en-US" sz="2400" b="1" dirty="0">
                <a:solidFill>
                  <a:schemeClr val="tx1"/>
                </a:solidFill>
              </a:rPr>
              <a:t>Example 6: </a:t>
            </a:r>
            <a:r>
              <a:rPr lang="en-US" sz="2400" dirty="0">
                <a:solidFill>
                  <a:schemeClr val="tx1"/>
                </a:solidFill>
              </a:rPr>
              <a:t>Let p be the proposition, “He studies very hard”, and q be the proposition “He is a very bad student”. The following arguments are valid according to the Addition Rule.</a:t>
            </a:r>
          </a:p>
          <a:p>
            <a:pPr marL="0" indent="0" algn="ctr">
              <a:buNone/>
            </a:pPr>
            <a:r>
              <a:rPr lang="en-US" sz="2400" dirty="0">
                <a:solidFill>
                  <a:schemeClr val="tx1"/>
                </a:solidFill>
              </a:rPr>
              <a:t>“He studies very hard”</a:t>
            </a:r>
          </a:p>
          <a:p>
            <a:pPr marL="0" indent="0" algn="ctr">
              <a:buNone/>
            </a:pPr>
            <a:r>
              <a:rPr lang="en-US" sz="2400" dirty="0">
                <a:solidFill>
                  <a:schemeClr val="tx1"/>
                </a:solidFill>
              </a:rPr>
              <a:t>Therefore − "Either he studies very hard Or he is a very bad student." </a:t>
            </a:r>
          </a:p>
          <a:p>
            <a:pPr marL="0" indent="0">
              <a:buNone/>
            </a:pPr>
            <a:r>
              <a:rPr lang="en-US" sz="2400" b="1" dirty="0">
                <a:solidFill>
                  <a:schemeClr val="tx1"/>
                </a:solidFill>
              </a:rPr>
              <a:t>Also </a:t>
            </a:r>
          </a:p>
          <a:p>
            <a:pPr marL="0" indent="0" algn="ctr">
              <a:buNone/>
            </a:pPr>
            <a:r>
              <a:rPr lang="en-US" sz="2400" dirty="0">
                <a:solidFill>
                  <a:schemeClr val="tx1"/>
                </a:solidFill>
              </a:rPr>
              <a:t>“He is a very bad student</a:t>
            </a:r>
          </a:p>
          <a:p>
            <a:pPr marL="0" indent="0" algn="ctr">
              <a:buNone/>
            </a:pPr>
            <a:r>
              <a:rPr lang="en-US" sz="2400" dirty="0">
                <a:solidFill>
                  <a:schemeClr val="tx1"/>
                </a:solidFill>
              </a:rPr>
              <a:t>Therefore − "Either he studies very hard Or he is a very bad student." </a:t>
            </a:r>
          </a:p>
          <a:p>
            <a:pPr marL="0" indent="0">
              <a:buNone/>
            </a:pPr>
            <a:endParaRPr lang="en-US" sz="2400" dirty="0">
              <a:solidFill>
                <a:schemeClr val="tx1"/>
              </a:solidFill>
            </a:endParaRPr>
          </a:p>
          <a:p>
            <a:pPr marL="0" indent="0">
              <a:buNone/>
            </a:pPr>
            <a:endParaRPr lang="en-US" sz="40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17</a:t>
            </a:fld>
            <a:endParaRPr lang="en-US"/>
          </a:p>
        </p:txBody>
      </p:sp>
      <p:sp>
        <p:nvSpPr>
          <p:cNvPr id="5" name="Rectangle 4"/>
          <p:cNvSpPr/>
          <p:nvPr/>
        </p:nvSpPr>
        <p:spPr>
          <a:xfrm>
            <a:off x="1381125" y="1366970"/>
            <a:ext cx="4314825" cy="1323439"/>
          </a:xfrm>
          <a:prstGeom prst="rect">
            <a:avLst/>
          </a:prstGeom>
          <a:ln w="12700">
            <a:solidFill>
              <a:schemeClr val="tx1"/>
            </a:solidFill>
          </a:ln>
        </p:spPr>
        <p:txBody>
          <a:bodyPr wrap="square">
            <a:spAutoFit/>
          </a:bodyPr>
          <a:lstStyle/>
          <a:p>
            <a:r>
              <a:rPr lang="en-US" sz="2000" dirty="0"/>
              <a:t>If p is a premise, we can use Addition rule to derive </a:t>
            </a:r>
            <a:r>
              <a:rPr lang="en-US" sz="2000" dirty="0" err="1"/>
              <a:t>p∨q</a:t>
            </a:r>
            <a:r>
              <a:rPr lang="en-US" sz="2000" dirty="0"/>
              <a:t>.</a:t>
            </a:r>
          </a:p>
          <a:p>
            <a:pPr indent="1371600"/>
            <a:r>
              <a:rPr lang="en-US" sz="2000" dirty="0"/>
              <a:t>p</a:t>
            </a:r>
          </a:p>
          <a:p>
            <a:pPr indent="1371600"/>
            <a:r>
              <a:rPr lang="en-US" sz="2000" dirty="0"/>
              <a:t>∴</a:t>
            </a:r>
            <a:r>
              <a:rPr lang="en-US" sz="2000" dirty="0" err="1"/>
              <a:t>p∨q</a:t>
            </a:r>
            <a:endParaRPr lang="en-US" sz="2000" dirty="0"/>
          </a:p>
        </p:txBody>
      </p:sp>
      <p:sp>
        <p:nvSpPr>
          <p:cNvPr id="6" name="Rectangle 5"/>
          <p:cNvSpPr/>
          <p:nvPr/>
        </p:nvSpPr>
        <p:spPr>
          <a:xfrm>
            <a:off x="6470883" y="1366969"/>
            <a:ext cx="5149617" cy="1323439"/>
          </a:xfrm>
          <a:prstGeom prst="rect">
            <a:avLst/>
          </a:prstGeom>
          <a:ln w="12700">
            <a:solidFill>
              <a:schemeClr val="tx1"/>
            </a:solidFill>
          </a:ln>
        </p:spPr>
        <p:txBody>
          <a:bodyPr wrap="square">
            <a:spAutoFit/>
          </a:bodyPr>
          <a:lstStyle/>
          <a:p>
            <a:r>
              <a:rPr lang="en-US" sz="2000" dirty="0"/>
              <a:t>Or If q is a premise, we can use Addition rule to derive </a:t>
            </a:r>
            <a:r>
              <a:rPr lang="en-US" sz="2000" dirty="0" err="1"/>
              <a:t>p∨q</a:t>
            </a:r>
            <a:r>
              <a:rPr lang="en-US" sz="2000" dirty="0"/>
              <a:t>.</a:t>
            </a:r>
          </a:p>
          <a:p>
            <a:pPr indent="1371600"/>
            <a:r>
              <a:rPr lang="en-US" sz="2000" dirty="0"/>
              <a:t>q</a:t>
            </a:r>
          </a:p>
          <a:p>
            <a:pPr indent="1371600"/>
            <a:r>
              <a:rPr lang="en-US" sz="2000" dirty="0"/>
              <a:t>∴</a:t>
            </a:r>
            <a:r>
              <a:rPr lang="en-US" sz="2000" dirty="0" err="1"/>
              <a:t>p∨q</a:t>
            </a:r>
            <a:endParaRPr lang="en-US" sz="2000" dirty="0"/>
          </a:p>
        </p:txBody>
      </p:sp>
    </p:spTree>
    <p:extLst>
      <p:ext uri="{BB962C8B-B14F-4D97-AF65-F5344CB8AC3E}">
        <p14:creationId xmlns:p14="http://schemas.microsoft.com/office/powerpoint/2010/main" val="3396602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640445"/>
          </a:xfrm>
        </p:spPr>
        <p:txBody>
          <a:bodyPr>
            <a:normAutofit/>
          </a:bodyPr>
          <a:lstStyle/>
          <a:p>
            <a:r>
              <a:rPr lang="en-US" spc="-75" dirty="0">
                <a:solidFill>
                  <a:srgbClr val="121214"/>
                </a:solidFill>
                <a:latin typeface="Verdana" panose="020B0604030504040204" pitchFamily="34" charset="0"/>
                <a:ea typeface="Times New Roman" panose="02020603050405020304" pitchFamily="18" charset="0"/>
                <a:cs typeface="Times New Roman" panose="02020603050405020304" pitchFamily="18" charset="0"/>
              </a:rPr>
              <a:t>Simplification</a:t>
            </a:r>
          </a:p>
        </p:txBody>
      </p:sp>
      <p:sp>
        <p:nvSpPr>
          <p:cNvPr id="3" name="Content Placeholder 2"/>
          <p:cNvSpPr>
            <a:spLocks noGrp="1"/>
          </p:cNvSpPr>
          <p:nvPr>
            <p:ph idx="1"/>
          </p:nvPr>
        </p:nvSpPr>
        <p:spPr>
          <a:xfrm>
            <a:off x="1402440" y="3291941"/>
            <a:ext cx="9946971" cy="3108858"/>
          </a:xfrm>
          <a:noFill/>
        </p:spPr>
        <p:txBody>
          <a:bodyPr vert="horz" lIns="91440" tIns="45720" rIns="91440" bIns="45720" rtlCol="0">
            <a:noAutofit/>
          </a:bodyPr>
          <a:lstStyle/>
          <a:p>
            <a:pPr marL="0" indent="0">
              <a:buNone/>
            </a:pPr>
            <a:r>
              <a:rPr lang="en-US" sz="2800" b="1" dirty="0">
                <a:solidFill>
                  <a:schemeClr val="tx1"/>
                </a:solidFill>
              </a:rPr>
              <a:t>Example 7</a:t>
            </a:r>
          </a:p>
          <a:p>
            <a:pPr marL="0" indent="0" algn="ctr">
              <a:buNone/>
            </a:pPr>
            <a:r>
              <a:rPr lang="en-US" sz="2400" dirty="0"/>
              <a:t>"He studies very hard and he is the best boy in the class",  </a:t>
            </a:r>
            <a:r>
              <a:rPr lang="en-US" sz="2400" dirty="0" err="1"/>
              <a:t>p∧q</a:t>
            </a:r>
            <a:r>
              <a:rPr lang="en-US" sz="2400" dirty="0"/>
              <a:t> Therefore − "He studies very </a:t>
            </a:r>
            <a:r>
              <a:rPr lang="en-US" sz="2400" dirty="0" err="1"/>
              <a:t>hard“∴q</a:t>
            </a:r>
            <a:endParaRPr lang="en-US" sz="2400" dirty="0"/>
          </a:p>
          <a:p>
            <a:pPr marL="0" indent="0">
              <a:buNone/>
            </a:pPr>
            <a:r>
              <a:rPr lang="en-US" sz="2800" dirty="0">
                <a:solidFill>
                  <a:schemeClr val="tx1"/>
                </a:solidFill>
              </a:rPr>
              <a:t>Also</a:t>
            </a:r>
          </a:p>
          <a:p>
            <a:pPr marL="0" indent="0" algn="ctr">
              <a:buNone/>
            </a:pPr>
            <a:r>
              <a:rPr lang="en-US" sz="2400" dirty="0"/>
              <a:t>"He studies very hard and he is the best boy in the class",  </a:t>
            </a:r>
            <a:r>
              <a:rPr lang="en-US" sz="2400" dirty="0" err="1"/>
              <a:t>p∧q</a:t>
            </a:r>
            <a:r>
              <a:rPr lang="en-US" sz="2400" dirty="0"/>
              <a:t> Therefore − "He is the best boy in the </a:t>
            </a:r>
            <a:r>
              <a:rPr lang="en-US" sz="2400" dirty="0" err="1"/>
              <a:t>class“∴q</a:t>
            </a:r>
            <a:endParaRPr lang="en-US" sz="4400" dirty="0"/>
          </a:p>
        </p:txBody>
      </p:sp>
      <p:sp>
        <p:nvSpPr>
          <p:cNvPr id="4" name="Slide Number Placeholder 3"/>
          <p:cNvSpPr>
            <a:spLocks noGrp="1"/>
          </p:cNvSpPr>
          <p:nvPr>
            <p:ph type="sldNum" sz="quarter" idx="12"/>
          </p:nvPr>
        </p:nvSpPr>
        <p:spPr/>
        <p:txBody>
          <a:bodyPr/>
          <a:lstStyle/>
          <a:p>
            <a:fld id="{F3C17577-0B44-47D5-BF4C-231DD1F36FC0}" type="slidenum">
              <a:rPr lang="en-US" smtClean="0"/>
              <a:t>18</a:t>
            </a:fld>
            <a:endParaRPr lang="en-US"/>
          </a:p>
        </p:txBody>
      </p:sp>
      <p:sp>
        <p:nvSpPr>
          <p:cNvPr id="5" name="Rectangle 4"/>
          <p:cNvSpPr/>
          <p:nvPr/>
        </p:nvSpPr>
        <p:spPr>
          <a:xfrm>
            <a:off x="1114425" y="1366970"/>
            <a:ext cx="4838700" cy="1569660"/>
          </a:xfrm>
          <a:prstGeom prst="rect">
            <a:avLst/>
          </a:prstGeom>
          <a:ln w="12700">
            <a:solidFill>
              <a:schemeClr val="tx1"/>
            </a:solidFill>
          </a:ln>
        </p:spPr>
        <p:txBody>
          <a:bodyPr wrap="square">
            <a:spAutoFit/>
          </a:bodyPr>
          <a:lstStyle/>
          <a:p>
            <a:r>
              <a:rPr lang="en-US" sz="2400" dirty="0"/>
              <a:t>If </a:t>
            </a:r>
            <a:r>
              <a:rPr lang="en-US" sz="2400" dirty="0" err="1"/>
              <a:t>p∧q</a:t>
            </a:r>
            <a:r>
              <a:rPr lang="en-US" sz="2400" dirty="0"/>
              <a:t> is a premise, we can use Simplification rule to derive p.</a:t>
            </a:r>
          </a:p>
          <a:p>
            <a:pPr indent="1371600"/>
            <a:r>
              <a:rPr lang="en-US" sz="2400" dirty="0" err="1"/>
              <a:t>p∧q</a:t>
            </a:r>
            <a:r>
              <a:rPr lang="en-US" sz="2400" dirty="0"/>
              <a:t> </a:t>
            </a:r>
          </a:p>
          <a:p>
            <a:pPr indent="1371600"/>
            <a:r>
              <a:rPr lang="en-US" sz="2400" dirty="0"/>
              <a:t>∴p</a:t>
            </a:r>
          </a:p>
        </p:txBody>
      </p:sp>
      <p:sp>
        <p:nvSpPr>
          <p:cNvPr id="6" name="Rectangle 5"/>
          <p:cNvSpPr/>
          <p:nvPr/>
        </p:nvSpPr>
        <p:spPr>
          <a:xfrm>
            <a:off x="6145855" y="1366969"/>
            <a:ext cx="5436545" cy="1569660"/>
          </a:xfrm>
          <a:prstGeom prst="rect">
            <a:avLst/>
          </a:prstGeom>
          <a:ln w="12700">
            <a:solidFill>
              <a:schemeClr val="tx1"/>
            </a:solidFill>
          </a:ln>
        </p:spPr>
        <p:txBody>
          <a:bodyPr wrap="square">
            <a:spAutoFit/>
          </a:bodyPr>
          <a:lstStyle/>
          <a:p>
            <a:r>
              <a:rPr lang="en-US" sz="2400" dirty="0"/>
              <a:t>Or If </a:t>
            </a:r>
            <a:r>
              <a:rPr lang="en-US" sz="2400" dirty="0" err="1"/>
              <a:t>p∧q</a:t>
            </a:r>
            <a:r>
              <a:rPr lang="en-US" sz="2400" dirty="0"/>
              <a:t> is a premise, we can use Simplification rule to derive Q.</a:t>
            </a:r>
          </a:p>
          <a:p>
            <a:pPr indent="1371600"/>
            <a:r>
              <a:rPr lang="en-US" sz="2400" dirty="0" err="1"/>
              <a:t>p∧q</a:t>
            </a:r>
            <a:r>
              <a:rPr lang="en-US" sz="2400" dirty="0"/>
              <a:t> </a:t>
            </a:r>
          </a:p>
          <a:p>
            <a:pPr indent="1371600"/>
            <a:r>
              <a:rPr lang="en-US" sz="2400" dirty="0"/>
              <a:t>∴q</a:t>
            </a:r>
          </a:p>
        </p:txBody>
      </p:sp>
    </p:spTree>
    <p:extLst>
      <p:ext uri="{BB962C8B-B14F-4D97-AF65-F5344CB8AC3E}">
        <p14:creationId xmlns:p14="http://schemas.microsoft.com/office/powerpoint/2010/main" val="649456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640445"/>
          </a:xfrm>
        </p:spPr>
        <p:txBody>
          <a:bodyPr>
            <a:normAutofit/>
          </a:bodyPr>
          <a:lstStyle/>
          <a:p>
            <a:r>
              <a:rPr lang="en-US" dirty="0"/>
              <a:t>Conjunction</a:t>
            </a:r>
          </a:p>
        </p:txBody>
      </p:sp>
      <p:sp>
        <p:nvSpPr>
          <p:cNvPr id="3" name="Content Placeholder 2"/>
          <p:cNvSpPr>
            <a:spLocks noGrp="1"/>
          </p:cNvSpPr>
          <p:nvPr>
            <p:ph idx="1"/>
          </p:nvPr>
        </p:nvSpPr>
        <p:spPr>
          <a:xfrm>
            <a:off x="1311579" y="3617231"/>
            <a:ext cx="9946971" cy="2631170"/>
          </a:xfrm>
          <a:noFill/>
        </p:spPr>
        <p:txBody>
          <a:bodyPr vert="horz" lIns="91440" tIns="45720" rIns="91440" bIns="45720" rtlCol="0">
            <a:noAutofit/>
          </a:bodyPr>
          <a:lstStyle/>
          <a:p>
            <a:pPr marL="0" indent="0">
              <a:buNone/>
            </a:pPr>
            <a:r>
              <a:rPr lang="en-US" sz="2400" b="1" dirty="0">
                <a:solidFill>
                  <a:schemeClr val="tx1"/>
                </a:solidFill>
              </a:rPr>
              <a:t>Example 8</a:t>
            </a:r>
          </a:p>
          <a:p>
            <a:pPr marL="0" indent="0">
              <a:buNone/>
            </a:pPr>
            <a:r>
              <a:rPr lang="en-US" sz="2400" dirty="0">
                <a:solidFill>
                  <a:schemeClr val="tx1"/>
                </a:solidFill>
              </a:rPr>
              <a:t>Let p − “He studies very hard”</a:t>
            </a:r>
          </a:p>
          <a:p>
            <a:pPr marL="0" indent="0">
              <a:buNone/>
            </a:pPr>
            <a:r>
              <a:rPr lang="en-US" sz="2400" dirty="0">
                <a:solidFill>
                  <a:schemeClr val="tx1"/>
                </a:solidFill>
              </a:rPr>
              <a:t>Let q − “He is the best boy in the class”</a:t>
            </a:r>
          </a:p>
          <a:p>
            <a:pPr marL="0" indent="0">
              <a:buNone/>
            </a:pPr>
            <a:r>
              <a:rPr lang="en-US" sz="2400" dirty="0">
                <a:solidFill>
                  <a:schemeClr val="tx1"/>
                </a:solidFill>
              </a:rPr>
              <a:t>Therefore − "He studies very hard and he is the best boy in the class"</a:t>
            </a:r>
            <a:endParaRPr lang="en-US" sz="66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19</a:t>
            </a:fld>
            <a:endParaRPr lang="en-US"/>
          </a:p>
        </p:txBody>
      </p:sp>
      <p:sp>
        <p:nvSpPr>
          <p:cNvPr id="5" name="Rectangle 4"/>
          <p:cNvSpPr/>
          <p:nvPr/>
        </p:nvSpPr>
        <p:spPr>
          <a:xfrm>
            <a:off x="1694655" y="1415573"/>
            <a:ext cx="8906670" cy="1938992"/>
          </a:xfrm>
          <a:prstGeom prst="rect">
            <a:avLst/>
          </a:prstGeom>
          <a:ln w="12700">
            <a:solidFill>
              <a:schemeClr val="tx1"/>
            </a:solidFill>
          </a:ln>
        </p:spPr>
        <p:txBody>
          <a:bodyPr wrap="square">
            <a:spAutoFit/>
          </a:bodyPr>
          <a:lstStyle/>
          <a:p>
            <a:r>
              <a:rPr lang="en-US" sz="2400" dirty="0"/>
              <a:t>If p and q are two premises, we can use Conjunction rule </a:t>
            </a:r>
          </a:p>
          <a:p>
            <a:r>
              <a:rPr lang="en-US" sz="2400" dirty="0"/>
              <a:t>to derive </a:t>
            </a:r>
            <a:r>
              <a:rPr lang="en-US" sz="2400" dirty="0" err="1"/>
              <a:t>p∧q</a:t>
            </a:r>
            <a:r>
              <a:rPr lang="en-US" sz="2400" dirty="0"/>
              <a:t> </a:t>
            </a:r>
          </a:p>
          <a:p>
            <a:r>
              <a:rPr lang="en-US" sz="2400" dirty="0"/>
              <a:t>						p</a:t>
            </a:r>
          </a:p>
          <a:p>
            <a:pPr indent="2743200"/>
            <a:r>
              <a:rPr lang="en-US" sz="2400" dirty="0"/>
              <a:t>q</a:t>
            </a:r>
          </a:p>
          <a:p>
            <a:pPr indent="2743200"/>
            <a:r>
              <a:rPr lang="en-US" sz="2400" dirty="0"/>
              <a:t>∴ </a:t>
            </a:r>
            <a:r>
              <a:rPr lang="en-US" sz="2400" dirty="0" err="1"/>
              <a:t>p∧q</a:t>
            </a:r>
            <a:r>
              <a:rPr lang="en-US" sz="2400" dirty="0"/>
              <a:t> </a:t>
            </a:r>
          </a:p>
        </p:txBody>
      </p:sp>
    </p:spTree>
    <p:extLst>
      <p:ext uri="{BB962C8B-B14F-4D97-AF65-F5344CB8AC3E}">
        <p14:creationId xmlns:p14="http://schemas.microsoft.com/office/powerpoint/2010/main" val="669695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640445"/>
          </a:xfrm>
        </p:spPr>
        <p:txBody>
          <a:bodyPr>
            <a:normAutofit/>
          </a:bodyPr>
          <a:lstStyle/>
          <a:p>
            <a:r>
              <a:rPr lang="en-US" dirty="0"/>
              <a:t>Disjunctive Syllogism</a:t>
            </a:r>
          </a:p>
        </p:txBody>
      </p:sp>
      <p:sp>
        <p:nvSpPr>
          <p:cNvPr id="3" name="Content Placeholder 2"/>
          <p:cNvSpPr>
            <a:spLocks noGrp="1"/>
          </p:cNvSpPr>
          <p:nvPr>
            <p:ph idx="1"/>
          </p:nvPr>
        </p:nvSpPr>
        <p:spPr>
          <a:xfrm>
            <a:off x="1475481" y="3614522"/>
            <a:ext cx="9946971" cy="2631170"/>
          </a:xfrm>
          <a:noFill/>
        </p:spPr>
        <p:txBody>
          <a:bodyPr vert="horz" lIns="91440" tIns="45720" rIns="91440" bIns="45720" rtlCol="0">
            <a:noAutofit/>
          </a:bodyPr>
          <a:lstStyle/>
          <a:p>
            <a:pPr marL="0" indent="0">
              <a:buNone/>
            </a:pPr>
            <a:r>
              <a:rPr lang="en-US" sz="2400" b="1" dirty="0"/>
              <a:t>Example 9</a:t>
            </a:r>
          </a:p>
          <a:p>
            <a:pPr marL="0" indent="0">
              <a:buNone/>
            </a:pPr>
            <a:r>
              <a:rPr lang="en-US" sz="2400" dirty="0"/>
              <a:t>"The ice cream is not vanilla flavored", ¬p</a:t>
            </a:r>
          </a:p>
          <a:p>
            <a:pPr marL="0" indent="0">
              <a:buNone/>
            </a:pPr>
            <a:r>
              <a:rPr lang="en-US" sz="2400" dirty="0"/>
              <a:t>"The ice cream is either vanilla flavored or chocolate flavored", </a:t>
            </a:r>
            <a:r>
              <a:rPr lang="en-US" sz="2400" dirty="0" err="1"/>
              <a:t>p∨q</a:t>
            </a:r>
            <a:endParaRPr lang="en-US" sz="2400" dirty="0"/>
          </a:p>
          <a:p>
            <a:pPr marL="0" indent="0">
              <a:buNone/>
            </a:pPr>
            <a:r>
              <a:rPr lang="en-US" sz="2400" dirty="0"/>
              <a:t>Therefore − "The ice cream is chocolate flavored”</a:t>
            </a:r>
          </a:p>
        </p:txBody>
      </p:sp>
      <p:sp>
        <p:nvSpPr>
          <p:cNvPr id="4" name="Slide Number Placeholder 3"/>
          <p:cNvSpPr>
            <a:spLocks noGrp="1"/>
          </p:cNvSpPr>
          <p:nvPr>
            <p:ph type="sldNum" sz="quarter" idx="12"/>
          </p:nvPr>
        </p:nvSpPr>
        <p:spPr/>
        <p:txBody>
          <a:bodyPr/>
          <a:lstStyle/>
          <a:p>
            <a:fld id="{F3C17577-0B44-47D5-BF4C-231DD1F36FC0}" type="slidenum">
              <a:rPr lang="en-US" smtClean="0"/>
              <a:t>20</a:t>
            </a:fld>
            <a:endParaRPr lang="en-US"/>
          </a:p>
        </p:txBody>
      </p:sp>
      <p:sp>
        <p:nvSpPr>
          <p:cNvPr id="5" name="Rectangle 4"/>
          <p:cNvSpPr/>
          <p:nvPr/>
        </p:nvSpPr>
        <p:spPr>
          <a:xfrm>
            <a:off x="1694655" y="1415573"/>
            <a:ext cx="8501768" cy="1938992"/>
          </a:xfrm>
          <a:prstGeom prst="rect">
            <a:avLst/>
          </a:prstGeom>
          <a:ln w="12700">
            <a:solidFill>
              <a:schemeClr val="tx1"/>
            </a:solidFill>
          </a:ln>
        </p:spPr>
        <p:txBody>
          <a:bodyPr wrap="square">
            <a:spAutoFit/>
          </a:bodyPr>
          <a:lstStyle/>
          <a:p>
            <a:r>
              <a:rPr lang="en-US" sz="2400" dirty="0"/>
              <a:t>If ¬p and </a:t>
            </a:r>
            <a:r>
              <a:rPr lang="en-US" sz="2400" dirty="0" err="1"/>
              <a:t>p∨q</a:t>
            </a:r>
            <a:r>
              <a:rPr lang="en-US" sz="2400" dirty="0"/>
              <a:t> are two premises, we can use Disjunctive Syllogism to derive q or p.</a:t>
            </a:r>
          </a:p>
          <a:p>
            <a:pPr indent="2743200"/>
            <a:r>
              <a:rPr lang="en-US" sz="2400" dirty="0"/>
              <a:t>¬p				 	¬q</a:t>
            </a:r>
          </a:p>
          <a:p>
            <a:pPr indent="2743200"/>
            <a:r>
              <a:rPr lang="en-US" sz="2400" dirty="0" err="1"/>
              <a:t>p∨q</a:t>
            </a:r>
            <a:r>
              <a:rPr lang="en-US" sz="2400" dirty="0"/>
              <a:t> 				</a:t>
            </a:r>
            <a:r>
              <a:rPr lang="en-US" sz="2400" dirty="0" err="1"/>
              <a:t>p∨q</a:t>
            </a:r>
            <a:r>
              <a:rPr lang="en-US" sz="2400" dirty="0"/>
              <a:t> </a:t>
            </a:r>
          </a:p>
          <a:p>
            <a:pPr indent="2743200"/>
            <a:r>
              <a:rPr lang="en-US" sz="2400" dirty="0"/>
              <a:t>∴q					∴p</a:t>
            </a:r>
          </a:p>
        </p:txBody>
      </p:sp>
    </p:spTree>
    <p:extLst>
      <p:ext uri="{BB962C8B-B14F-4D97-AF65-F5344CB8AC3E}">
        <p14:creationId xmlns:p14="http://schemas.microsoft.com/office/powerpoint/2010/main" val="1627673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640445"/>
          </a:xfrm>
        </p:spPr>
        <p:txBody>
          <a:bodyPr>
            <a:normAutofit/>
          </a:bodyPr>
          <a:lstStyle/>
          <a:p>
            <a:r>
              <a:rPr lang="en-US" dirty="0"/>
              <a:t>Hypothetical Syllogism</a:t>
            </a:r>
          </a:p>
        </p:txBody>
      </p:sp>
      <p:sp>
        <p:nvSpPr>
          <p:cNvPr id="3" name="Content Placeholder 2"/>
          <p:cNvSpPr>
            <a:spLocks noGrp="1"/>
          </p:cNvSpPr>
          <p:nvPr>
            <p:ph idx="1"/>
          </p:nvPr>
        </p:nvSpPr>
        <p:spPr>
          <a:xfrm>
            <a:off x="1311579" y="3617231"/>
            <a:ext cx="9946971" cy="2631170"/>
          </a:xfrm>
          <a:noFill/>
        </p:spPr>
        <p:txBody>
          <a:bodyPr vert="horz" lIns="91440" tIns="45720" rIns="91440" bIns="45720" rtlCol="0">
            <a:noAutofit/>
          </a:bodyPr>
          <a:lstStyle/>
          <a:p>
            <a:pPr marL="0" indent="0">
              <a:buNone/>
            </a:pPr>
            <a:r>
              <a:rPr lang="en-US" sz="2400" b="1" dirty="0">
                <a:solidFill>
                  <a:schemeClr val="tx1"/>
                </a:solidFill>
              </a:rPr>
              <a:t>Example 10</a:t>
            </a:r>
          </a:p>
          <a:p>
            <a:pPr marL="0" indent="0">
              <a:buNone/>
            </a:pPr>
            <a:r>
              <a:rPr lang="en-US" sz="2400" dirty="0">
                <a:solidFill>
                  <a:schemeClr val="tx1"/>
                </a:solidFill>
              </a:rPr>
              <a:t>"If it rains, I shall not go to school”, </a:t>
            </a:r>
            <a:r>
              <a:rPr lang="en-US" sz="2400" dirty="0" err="1">
                <a:solidFill>
                  <a:schemeClr val="tx1"/>
                </a:solidFill>
              </a:rPr>
              <a:t>p→q</a:t>
            </a:r>
            <a:endParaRPr lang="en-US" sz="2400" dirty="0">
              <a:solidFill>
                <a:schemeClr val="tx1"/>
              </a:solidFill>
            </a:endParaRPr>
          </a:p>
          <a:p>
            <a:pPr marL="0" indent="0">
              <a:buNone/>
            </a:pPr>
            <a:r>
              <a:rPr lang="en-US" sz="2400" dirty="0">
                <a:solidFill>
                  <a:schemeClr val="tx1"/>
                </a:solidFill>
              </a:rPr>
              <a:t>"If I don't go to school, I won't need to do homework", </a:t>
            </a:r>
            <a:r>
              <a:rPr lang="en-US" sz="2400" dirty="0" err="1">
                <a:solidFill>
                  <a:schemeClr val="tx1"/>
                </a:solidFill>
              </a:rPr>
              <a:t>q→r</a:t>
            </a:r>
            <a:endParaRPr lang="en-US" sz="2400" dirty="0">
              <a:solidFill>
                <a:schemeClr val="tx1"/>
              </a:solidFill>
            </a:endParaRPr>
          </a:p>
          <a:p>
            <a:pPr marL="0" indent="0">
              <a:buNone/>
            </a:pPr>
            <a:r>
              <a:rPr lang="en-US" sz="2400" dirty="0">
                <a:solidFill>
                  <a:schemeClr val="tx1"/>
                </a:solidFill>
              </a:rPr>
              <a:t>Therefore − "If it rains, I won't need to do homework“.</a:t>
            </a:r>
          </a:p>
        </p:txBody>
      </p:sp>
      <p:sp>
        <p:nvSpPr>
          <p:cNvPr id="4" name="Slide Number Placeholder 3"/>
          <p:cNvSpPr>
            <a:spLocks noGrp="1"/>
          </p:cNvSpPr>
          <p:nvPr>
            <p:ph type="sldNum" sz="quarter" idx="12"/>
          </p:nvPr>
        </p:nvSpPr>
        <p:spPr/>
        <p:txBody>
          <a:bodyPr/>
          <a:lstStyle/>
          <a:p>
            <a:fld id="{F3C17577-0B44-47D5-BF4C-231DD1F36FC0}" type="slidenum">
              <a:rPr lang="en-US" smtClean="0"/>
              <a:t>21</a:t>
            </a:fld>
            <a:endParaRPr lang="en-US"/>
          </a:p>
        </p:txBody>
      </p:sp>
      <p:sp>
        <p:nvSpPr>
          <p:cNvPr id="5" name="Rectangle 4"/>
          <p:cNvSpPr/>
          <p:nvPr/>
        </p:nvSpPr>
        <p:spPr>
          <a:xfrm>
            <a:off x="1694655" y="1415573"/>
            <a:ext cx="8906670" cy="1938992"/>
          </a:xfrm>
          <a:prstGeom prst="rect">
            <a:avLst/>
          </a:prstGeom>
          <a:ln w="12700">
            <a:solidFill>
              <a:schemeClr val="tx1"/>
            </a:solidFill>
          </a:ln>
        </p:spPr>
        <p:txBody>
          <a:bodyPr wrap="square">
            <a:spAutoFit/>
          </a:bodyPr>
          <a:lstStyle/>
          <a:p>
            <a:r>
              <a:rPr lang="en-US" sz="2400" dirty="0"/>
              <a:t>If </a:t>
            </a:r>
            <a:r>
              <a:rPr lang="en-US" sz="2400" dirty="0" err="1"/>
              <a:t>p→q</a:t>
            </a:r>
            <a:r>
              <a:rPr lang="en-US" sz="2400" dirty="0"/>
              <a:t> and </a:t>
            </a:r>
            <a:r>
              <a:rPr lang="en-US" sz="2400" dirty="0" err="1"/>
              <a:t>q→r</a:t>
            </a:r>
            <a:r>
              <a:rPr lang="en-US" sz="2400" dirty="0"/>
              <a:t> are two premises, we can use Hypothetical Syllogism to derive </a:t>
            </a:r>
            <a:r>
              <a:rPr lang="en-US" sz="2400" dirty="0" err="1"/>
              <a:t>p→r</a:t>
            </a:r>
            <a:endParaRPr lang="en-US" sz="2400" dirty="0"/>
          </a:p>
          <a:p>
            <a:pPr indent="2743200"/>
            <a:r>
              <a:rPr lang="en-US" sz="2400" dirty="0" err="1"/>
              <a:t>p→q</a:t>
            </a:r>
            <a:r>
              <a:rPr lang="en-US" sz="2400" dirty="0"/>
              <a:t> </a:t>
            </a:r>
          </a:p>
          <a:p>
            <a:pPr indent="2743200"/>
            <a:r>
              <a:rPr lang="en-US" sz="2400" dirty="0" err="1"/>
              <a:t>q→r</a:t>
            </a:r>
            <a:r>
              <a:rPr lang="en-US" sz="2400" dirty="0"/>
              <a:t> </a:t>
            </a:r>
          </a:p>
          <a:p>
            <a:r>
              <a:rPr lang="en-US" sz="2400" dirty="0"/>
              <a:t>						∴</a:t>
            </a:r>
            <a:r>
              <a:rPr lang="en-US" sz="2400" dirty="0" err="1"/>
              <a:t>p→r</a:t>
            </a:r>
            <a:endParaRPr lang="en-US" sz="2400" dirty="0"/>
          </a:p>
        </p:txBody>
      </p:sp>
    </p:spTree>
    <p:extLst>
      <p:ext uri="{BB962C8B-B14F-4D97-AF65-F5344CB8AC3E}">
        <p14:creationId xmlns:p14="http://schemas.microsoft.com/office/powerpoint/2010/main" val="1867792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640445"/>
          </a:xfrm>
        </p:spPr>
        <p:txBody>
          <a:bodyPr>
            <a:normAutofit/>
          </a:bodyPr>
          <a:lstStyle/>
          <a:p>
            <a:r>
              <a:rPr lang="en-US" dirty="0"/>
              <a:t>Division into cases</a:t>
            </a:r>
          </a:p>
        </p:txBody>
      </p:sp>
      <p:sp>
        <p:nvSpPr>
          <p:cNvPr id="3" name="Content Placeholder 2"/>
          <p:cNvSpPr>
            <a:spLocks noGrp="1"/>
          </p:cNvSpPr>
          <p:nvPr>
            <p:ph idx="1"/>
          </p:nvPr>
        </p:nvSpPr>
        <p:spPr>
          <a:xfrm>
            <a:off x="1311579" y="3874915"/>
            <a:ext cx="9946971" cy="2631170"/>
          </a:xfrm>
          <a:noFill/>
        </p:spPr>
        <p:txBody>
          <a:bodyPr vert="horz" lIns="91440" tIns="45720" rIns="91440" bIns="45720" rtlCol="0">
            <a:noAutofit/>
          </a:bodyPr>
          <a:lstStyle/>
          <a:p>
            <a:pPr marL="0" indent="0">
              <a:buNone/>
            </a:pPr>
            <a:r>
              <a:rPr lang="en-US" sz="2400" b="1" dirty="0">
                <a:solidFill>
                  <a:schemeClr val="tx1"/>
                </a:solidFill>
              </a:rPr>
              <a:t>Example 11</a:t>
            </a:r>
          </a:p>
          <a:p>
            <a:pPr marL="0" indent="0">
              <a:buNone/>
            </a:pPr>
            <a:r>
              <a:rPr lang="en-US" sz="2400" dirty="0">
                <a:solidFill>
                  <a:schemeClr val="tx1"/>
                </a:solidFill>
              </a:rPr>
              <a:t>"If it rains then I do not go to school", </a:t>
            </a:r>
            <a:r>
              <a:rPr lang="en-US" sz="2400" dirty="0" err="1">
                <a:solidFill>
                  <a:schemeClr val="tx1"/>
                </a:solidFill>
              </a:rPr>
              <a:t>p→r</a:t>
            </a:r>
            <a:endParaRPr lang="en-US" sz="2400" dirty="0">
              <a:solidFill>
                <a:schemeClr val="tx1"/>
              </a:solidFill>
            </a:endParaRPr>
          </a:p>
          <a:p>
            <a:pPr marL="0" indent="0">
              <a:buNone/>
            </a:pPr>
            <a:r>
              <a:rPr lang="en-US" sz="2400" dirty="0">
                <a:solidFill>
                  <a:schemeClr val="tx1"/>
                </a:solidFill>
              </a:rPr>
              <a:t>"If I wake up late, then I do not go to school", </a:t>
            </a:r>
            <a:r>
              <a:rPr lang="en-US" sz="2400" dirty="0" err="1">
                <a:solidFill>
                  <a:schemeClr val="tx1"/>
                </a:solidFill>
              </a:rPr>
              <a:t>q→r</a:t>
            </a:r>
            <a:endParaRPr lang="en-US" sz="2400" dirty="0">
              <a:solidFill>
                <a:schemeClr val="tx1"/>
              </a:solidFill>
            </a:endParaRPr>
          </a:p>
          <a:p>
            <a:pPr marL="0" indent="0">
              <a:buNone/>
            </a:pPr>
            <a:r>
              <a:rPr lang="en-US" sz="2400" dirty="0">
                <a:solidFill>
                  <a:schemeClr val="tx1"/>
                </a:solidFill>
              </a:rPr>
              <a:t>“It rains, or I wake up late” </a:t>
            </a:r>
            <a:r>
              <a:rPr lang="en-US" sz="2400" dirty="0"/>
              <a:t> </a:t>
            </a:r>
            <a:r>
              <a:rPr lang="en-US" sz="2400" dirty="0" err="1"/>
              <a:t>p∨q</a:t>
            </a:r>
            <a:r>
              <a:rPr lang="en-US" sz="2400" dirty="0"/>
              <a:t> </a:t>
            </a:r>
          </a:p>
          <a:p>
            <a:pPr marL="0" indent="0">
              <a:buNone/>
            </a:pPr>
            <a:r>
              <a:rPr lang="en-US" sz="2400" dirty="0">
                <a:solidFill>
                  <a:schemeClr val="tx1"/>
                </a:solidFill>
              </a:rPr>
              <a:t>Therefore − “I do not go to school"</a:t>
            </a:r>
          </a:p>
        </p:txBody>
      </p:sp>
      <p:sp>
        <p:nvSpPr>
          <p:cNvPr id="4" name="Slide Number Placeholder 3"/>
          <p:cNvSpPr>
            <a:spLocks noGrp="1"/>
          </p:cNvSpPr>
          <p:nvPr>
            <p:ph type="sldNum" sz="quarter" idx="12"/>
          </p:nvPr>
        </p:nvSpPr>
        <p:spPr/>
        <p:txBody>
          <a:bodyPr/>
          <a:lstStyle/>
          <a:p>
            <a:fld id="{F3C17577-0B44-47D5-BF4C-231DD1F36FC0}" type="slidenum">
              <a:rPr lang="en-US" smtClean="0"/>
              <a:t>22</a:t>
            </a:fld>
            <a:endParaRPr lang="en-US"/>
          </a:p>
        </p:txBody>
      </p:sp>
      <p:sp>
        <p:nvSpPr>
          <p:cNvPr id="5" name="Rectangle 4"/>
          <p:cNvSpPr/>
          <p:nvPr/>
        </p:nvSpPr>
        <p:spPr>
          <a:xfrm>
            <a:off x="1694655" y="1415573"/>
            <a:ext cx="8906670" cy="2308324"/>
          </a:xfrm>
          <a:prstGeom prst="rect">
            <a:avLst/>
          </a:prstGeom>
          <a:ln w="12700">
            <a:solidFill>
              <a:schemeClr val="tx1"/>
            </a:solidFill>
          </a:ln>
        </p:spPr>
        <p:txBody>
          <a:bodyPr wrap="square">
            <a:spAutoFit/>
          </a:bodyPr>
          <a:lstStyle/>
          <a:p>
            <a:r>
              <a:rPr lang="en-US" sz="2400" dirty="0"/>
              <a:t>If </a:t>
            </a:r>
            <a:r>
              <a:rPr lang="en-US" sz="2400" dirty="0" err="1"/>
              <a:t>p∨q</a:t>
            </a:r>
            <a:r>
              <a:rPr lang="en-US" sz="2400" dirty="0"/>
              <a:t>, </a:t>
            </a:r>
            <a:r>
              <a:rPr lang="en-US" sz="2400" dirty="0" err="1"/>
              <a:t>p→r</a:t>
            </a:r>
            <a:r>
              <a:rPr lang="en-US" sz="2400" dirty="0"/>
              <a:t>  and </a:t>
            </a:r>
            <a:r>
              <a:rPr lang="en-US" sz="2400" dirty="0" err="1"/>
              <a:t>q→r</a:t>
            </a:r>
            <a:r>
              <a:rPr lang="en-US" sz="2400" dirty="0"/>
              <a:t> are three premises, we can use division into cases to derive r.</a:t>
            </a:r>
          </a:p>
          <a:p>
            <a:pPr indent="2743200"/>
            <a:r>
              <a:rPr lang="en-US" sz="2400" dirty="0"/>
              <a:t>	 	</a:t>
            </a:r>
            <a:r>
              <a:rPr lang="en-US" sz="2400" dirty="0" err="1"/>
              <a:t>p∨q</a:t>
            </a:r>
            <a:r>
              <a:rPr lang="en-US" sz="2400" dirty="0"/>
              <a:t> </a:t>
            </a:r>
          </a:p>
          <a:p>
            <a:pPr indent="2743200"/>
            <a:r>
              <a:rPr lang="en-US" sz="2400" dirty="0"/>
              <a:t>		</a:t>
            </a:r>
            <a:r>
              <a:rPr lang="en-US" sz="2400" dirty="0" err="1"/>
              <a:t>p→r</a:t>
            </a:r>
            <a:r>
              <a:rPr lang="en-US" sz="2400" dirty="0"/>
              <a:t> </a:t>
            </a:r>
          </a:p>
          <a:p>
            <a:pPr indent="2743200"/>
            <a:r>
              <a:rPr lang="en-US" sz="2400" dirty="0"/>
              <a:t>		</a:t>
            </a:r>
            <a:r>
              <a:rPr lang="en-US" sz="2400" dirty="0" err="1"/>
              <a:t>q→r</a:t>
            </a:r>
            <a:endParaRPr lang="en-US" sz="2400" dirty="0"/>
          </a:p>
          <a:p>
            <a:pPr indent="2743200"/>
            <a:r>
              <a:rPr lang="en-US" sz="2400" dirty="0"/>
              <a:t>		∴r</a:t>
            </a:r>
          </a:p>
        </p:txBody>
      </p:sp>
    </p:spTree>
    <p:extLst>
      <p:ext uri="{BB962C8B-B14F-4D97-AF65-F5344CB8AC3E}">
        <p14:creationId xmlns:p14="http://schemas.microsoft.com/office/powerpoint/2010/main" val="3236556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275" y="624110"/>
            <a:ext cx="8911687" cy="640445"/>
          </a:xfrm>
        </p:spPr>
        <p:txBody>
          <a:bodyPr>
            <a:normAutofit/>
          </a:bodyPr>
          <a:lstStyle/>
          <a:p>
            <a:r>
              <a:rPr lang="en-US" dirty="0"/>
              <a:t>Contradiction</a:t>
            </a:r>
          </a:p>
        </p:txBody>
      </p:sp>
      <p:sp>
        <p:nvSpPr>
          <p:cNvPr id="4" name="Slide Number Placeholder 3"/>
          <p:cNvSpPr>
            <a:spLocks noGrp="1"/>
          </p:cNvSpPr>
          <p:nvPr>
            <p:ph type="sldNum" sz="quarter" idx="12"/>
          </p:nvPr>
        </p:nvSpPr>
        <p:spPr/>
        <p:txBody>
          <a:bodyPr/>
          <a:lstStyle/>
          <a:p>
            <a:fld id="{F3C17577-0B44-47D5-BF4C-231DD1F36FC0}" type="slidenum">
              <a:rPr lang="en-US" smtClean="0"/>
              <a:t>23</a:t>
            </a:fld>
            <a:endParaRPr lang="en-US"/>
          </a:p>
        </p:txBody>
      </p:sp>
      <p:sp>
        <p:nvSpPr>
          <p:cNvPr id="5" name="Rectangle 4"/>
          <p:cNvSpPr/>
          <p:nvPr/>
        </p:nvSpPr>
        <p:spPr>
          <a:xfrm>
            <a:off x="1694655" y="1415573"/>
            <a:ext cx="8906670" cy="1569660"/>
          </a:xfrm>
          <a:prstGeom prst="rect">
            <a:avLst/>
          </a:prstGeom>
          <a:ln w="12700">
            <a:solidFill>
              <a:schemeClr val="tx1"/>
            </a:solidFill>
          </a:ln>
        </p:spPr>
        <p:txBody>
          <a:bodyPr wrap="square">
            <a:spAutoFit/>
          </a:bodyPr>
          <a:lstStyle/>
          <a:p>
            <a:r>
              <a:rPr lang="en-US" sz="2400" dirty="0"/>
              <a:t>If  ¬</a:t>
            </a:r>
            <a:r>
              <a:rPr lang="en-US" sz="2400" dirty="0" err="1"/>
              <a:t>p→F</a:t>
            </a:r>
            <a:r>
              <a:rPr lang="en-US" sz="2400" dirty="0"/>
              <a:t> is a premise, we can use contradiction cases to derive p.</a:t>
            </a:r>
          </a:p>
          <a:p>
            <a:pPr indent="2743200"/>
            <a:r>
              <a:rPr lang="en-US" sz="2400" dirty="0"/>
              <a:t>	 	¬</a:t>
            </a:r>
            <a:r>
              <a:rPr lang="en-US" sz="2400" dirty="0" err="1"/>
              <a:t>p→F</a:t>
            </a:r>
            <a:endParaRPr lang="en-US" sz="2400" dirty="0"/>
          </a:p>
          <a:p>
            <a:pPr indent="2743200"/>
            <a:r>
              <a:rPr lang="en-US" sz="2400" dirty="0"/>
              <a:t>		∴p</a:t>
            </a:r>
          </a:p>
        </p:txBody>
      </p:sp>
      <p:sp>
        <p:nvSpPr>
          <p:cNvPr id="7" name="Title 1"/>
          <p:cNvSpPr txBox="1">
            <a:spLocks/>
          </p:cNvSpPr>
          <p:nvPr/>
        </p:nvSpPr>
        <p:spPr>
          <a:xfrm>
            <a:off x="1692146" y="3459325"/>
            <a:ext cx="8911687" cy="640445"/>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Resolution</a:t>
            </a:r>
          </a:p>
        </p:txBody>
      </p:sp>
      <p:sp>
        <p:nvSpPr>
          <p:cNvPr id="9" name="Rectangle 8"/>
          <p:cNvSpPr/>
          <p:nvPr/>
        </p:nvSpPr>
        <p:spPr>
          <a:xfrm>
            <a:off x="1694655" y="4025841"/>
            <a:ext cx="8906670" cy="1938992"/>
          </a:xfrm>
          <a:prstGeom prst="rect">
            <a:avLst/>
          </a:prstGeom>
          <a:ln w="12700">
            <a:solidFill>
              <a:schemeClr val="tx1"/>
            </a:solidFill>
          </a:ln>
        </p:spPr>
        <p:txBody>
          <a:bodyPr wrap="square">
            <a:spAutoFit/>
          </a:bodyPr>
          <a:lstStyle/>
          <a:p>
            <a:r>
              <a:rPr lang="en-US" sz="2400" dirty="0"/>
              <a:t>If </a:t>
            </a:r>
            <a:r>
              <a:rPr lang="en-US" sz="2400" dirty="0" err="1"/>
              <a:t>p∨q</a:t>
            </a:r>
            <a:r>
              <a:rPr lang="en-US" sz="2400" dirty="0"/>
              <a:t>, ¬</a:t>
            </a:r>
            <a:r>
              <a:rPr lang="en-US" sz="2400" dirty="0" err="1"/>
              <a:t>p∨r</a:t>
            </a:r>
            <a:r>
              <a:rPr lang="en-US" sz="2400" dirty="0"/>
              <a:t>  are two premises, we can use resolution to derive  </a:t>
            </a:r>
            <a:r>
              <a:rPr lang="en-US" sz="2400" dirty="0" err="1"/>
              <a:t>q∨r</a:t>
            </a:r>
            <a:r>
              <a:rPr lang="en-US" sz="2400" dirty="0"/>
              <a:t>.</a:t>
            </a:r>
          </a:p>
          <a:p>
            <a:pPr indent="2743200"/>
            <a:r>
              <a:rPr lang="en-US" sz="2400" dirty="0"/>
              <a:t>	 	</a:t>
            </a:r>
            <a:r>
              <a:rPr lang="en-US" sz="2400" dirty="0" err="1"/>
              <a:t>p∨q</a:t>
            </a:r>
            <a:r>
              <a:rPr lang="en-US" sz="2400" dirty="0"/>
              <a:t> </a:t>
            </a:r>
          </a:p>
          <a:p>
            <a:pPr indent="2743200"/>
            <a:r>
              <a:rPr lang="en-US" sz="2400" dirty="0"/>
              <a:t>		¬</a:t>
            </a:r>
            <a:r>
              <a:rPr lang="en-US" sz="2400" dirty="0" err="1"/>
              <a:t>p∨r</a:t>
            </a:r>
            <a:r>
              <a:rPr lang="en-US" sz="2400" dirty="0"/>
              <a:t> </a:t>
            </a:r>
          </a:p>
          <a:p>
            <a:pPr indent="2743200"/>
            <a:r>
              <a:rPr lang="en-US" sz="2400" dirty="0"/>
              <a:t>		∴ </a:t>
            </a:r>
            <a:r>
              <a:rPr lang="en-US" sz="2400" dirty="0" err="1"/>
              <a:t>q∨r</a:t>
            </a:r>
            <a:endParaRPr lang="en-US" sz="2400" dirty="0"/>
          </a:p>
        </p:txBody>
      </p:sp>
    </p:spTree>
    <p:extLst>
      <p:ext uri="{BB962C8B-B14F-4D97-AF65-F5344CB8AC3E}">
        <p14:creationId xmlns:p14="http://schemas.microsoft.com/office/powerpoint/2010/main" val="1095072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7536" y="695995"/>
            <a:ext cx="8911687" cy="592215"/>
          </a:xfrm>
        </p:spPr>
        <p:txBody>
          <a:bodyPr>
            <a:normAutofit fontScale="90000"/>
          </a:bodyPr>
          <a:lstStyle/>
          <a:p>
            <a:r>
              <a:rPr lang="en-US" b="1" dirty="0"/>
              <a:t>Example 12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18746" y="1306255"/>
                <a:ext cx="9534358" cy="4801247"/>
              </a:xfrm>
              <a:noFill/>
            </p:spPr>
            <p:txBody>
              <a:bodyPr>
                <a:noAutofit/>
              </a:bodyPr>
              <a:lstStyle/>
              <a:p>
                <a:pPr marL="0" indent="0">
                  <a:buNone/>
                </a:pPr>
                <a:r>
                  <a:rPr lang="en-US" sz="2400" dirty="0"/>
                  <a:t>State which rule of inference is the basis of the following argument: </a:t>
                </a:r>
                <a:r>
                  <a:rPr lang="en-US" sz="2400" i="1" dirty="0"/>
                  <a:t>"It is below freezing now. Therefore, it is either below freezing or raining now."</a:t>
                </a:r>
              </a:p>
              <a:p>
                <a:pPr marL="0" indent="0">
                  <a:buNone/>
                </a:pPr>
                <a:r>
                  <a:rPr lang="en-US" sz="2400" b="1" dirty="0"/>
                  <a:t>Solution</a:t>
                </a:r>
                <a:r>
                  <a:rPr lang="en-US" sz="2400" dirty="0"/>
                  <a:t>: </a:t>
                </a:r>
              </a:p>
              <a:p>
                <a:pPr marL="0" indent="0">
                  <a:buNone/>
                </a:pPr>
                <a:r>
                  <a:rPr lang="en-US" sz="2400" dirty="0"/>
                  <a:t>Let </a:t>
                </a:r>
                <a:r>
                  <a:rPr lang="en-US" sz="2400" i="1" dirty="0"/>
                  <a:t>p</a:t>
                </a:r>
                <a:r>
                  <a:rPr lang="en-US" sz="2400" dirty="0"/>
                  <a:t> be the proposition “It is below freezing now" and </a:t>
                </a:r>
                <a:r>
                  <a:rPr lang="en-US" sz="2400" i="1" dirty="0"/>
                  <a:t>q</a:t>
                </a:r>
                <a:r>
                  <a:rPr lang="en-US" sz="2400" dirty="0"/>
                  <a:t> the proposition “It is raining now." </a:t>
                </a:r>
              </a:p>
              <a:p>
                <a:pPr marL="0" indent="0">
                  <a:buNone/>
                </a:pPr>
                <a:r>
                  <a:rPr lang="en-US" sz="2400" dirty="0"/>
                  <a:t>Then this argument is of the form</a:t>
                </a:r>
              </a:p>
              <a:p>
                <a:pPr marL="0" indent="0">
                  <a:buNone/>
                </a:pPr>
                <a:r>
                  <a:rPr lang="en-US" sz="2400" i="1" dirty="0"/>
                  <a:t>				   		p</a:t>
                </a:r>
              </a:p>
              <a:p>
                <a:pPr marL="0" indent="0">
                  <a:buNone/>
                </a:pPr>
                <a14:m>
                  <m:oMath xmlns:m="http://schemas.openxmlformats.org/officeDocument/2006/math">
                    <m:r>
                      <a:rPr lang="en-US" sz="2400" b="0" i="1" dirty="0" smtClean="0">
                        <a:latin typeface="Cambria Math" panose="02040503050406030204" pitchFamily="18" charset="0"/>
                        <a:ea typeface="Cambria Math" panose="02040503050406030204" pitchFamily="18" charset="0"/>
                      </a:rPr>
                      <m:t>                                    </m:t>
                    </m:r>
                    <m:r>
                      <a:rPr lang="en-US" sz="2400" i="1" dirty="0" smtClean="0">
                        <a:latin typeface="Cambria Math" panose="02040503050406030204" pitchFamily="18" charset="0"/>
                        <a:ea typeface="Cambria Math" panose="02040503050406030204" pitchFamily="18" charset="0"/>
                      </a:rPr>
                      <m:t>∴</m:t>
                    </m:r>
                  </m:oMath>
                </a14:m>
                <a:r>
                  <a:rPr lang="en-US" sz="2400" i="1" dirty="0"/>
                  <a:t> p</a:t>
                </a:r>
                <a:r>
                  <a:rPr lang="en-US" sz="2400" dirty="0"/>
                  <a:t> ∨ </a:t>
                </a:r>
                <a:r>
                  <a:rPr lang="en-US" sz="2400" i="1" dirty="0"/>
                  <a:t>q</a:t>
                </a:r>
              </a:p>
              <a:p>
                <a:pPr marL="0" indent="0">
                  <a:buNone/>
                </a:pPr>
                <a:r>
                  <a:rPr lang="en-US" sz="2400" dirty="0"/>
                  <a:t>This is an argument that uses the addition rule.</a:t>
                </a:r>
              </a:p>
              <a:p>
                <a:pPr marL="0" indent="0">
                  <a:buNone/>
                </a:pPr>
                <a:endParaRPr lang="en-US" sz="24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18746" y="1306255"/>
                <a:ext cx="9534358" cy="4801247"/>
              </a:xfrm>
              <a:blipFill>
                <a:blip r:embed="rId2"/>
                <a:stretch>
                  <a:fillRect l="-1023" t="-1015" r="-44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3C17577-0B44-47D5-BF4C-231DD1F36FC0}" type="slidenum">
              <a:rPr lang="en-US" smtClean="0"/>
              <a:t>24</a:t>
            </a:fld>
            <a:endParaRPr lang="en-US"/>
          </a:p>
        </p:txBody>
      </p:sp>
    </p:spTree>
    <p:extLst>
      <p:ext uri="{BB962C8B-B14F-4D97-AF65-F5344CB8AC3E}">
        <p14:creationId xmlns:p14="http://schemas.microsoft.com/office/powerpoint/2010/main" val="4052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7536" y="695995"/>
            <a:ext cx="8911687" cy="592215"/>
          </a:xfrm>
        </p:spPr>
        <p:txBody>
          <a:bodyPr>
            <a:normAutofit fontScale="90000"/>
          </a:bodyPr>
          <a:lstStyle/>
          <a:p>
            <a:r>
              <a:rPr lang="en-US" b="1" dirty="0"/>
              <a:t>Example 13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47536" y="1288210"/>
                <a:ext cx="9440924" cy="5250604"/>
              </a:xfrm>
              <a:noFill/>
            </p:spPr>
            <p:txBody>
              <a:bodyPr>
                <a:noAutofit/>
              </a:bodyPr>
              <a:lstStyle/>
              <a:p>
                <a:pPr marL="0" indent="0">
                  <a:buNone/>
                </a:pPr>
                <a:r>
                  <a:rPr lang="en-US" sz="2400" dirty="0">
                    <a:solidFill>
                      <a:schemeClr val="tx1"/>
                    </a:solidFill>
                  </a:rPr>
                  <a:t>State which rule of inference is the basis of the following argument: </a:t>
                </a:r>
              </a:p>
              <a:p>
                <a:pPr marL="0" indent="0">
                  <a:buNone/>
                </a:pPr>
                <a:r>
                  <a:rPr lang="en-US" sz="2400" dirty="0">
                    <a:solidFill>
                      <a:schemeClr val="tx1"/>
                    </a:solidFill>
                  </a:rPr>
                  <a:t>"It is below </a:t>
                </a:r>
                <a:r>
                  <a:rPr lang="en-US" sz="2400" i="1" dirty="0">
                    <a:solidFill>
                      <a:schemeClr val="tx1"/>
                    </a:solidFill>
                  </a:rPr>
                  <a:t>freezing and raining now. Therefore, it is below freezing now."</a:t>
                </a:r>
              </a:p>
              <a:p>
                <a:pPr marL="0" indent="0">
                  <a:buNone/>
                </a:pPr>
                <a:r>
                  <a:rPr lang="en-US" sz="2400" b="1" dirty="0">
                    <a:solidFill>
                      <a:schemeClr val="tx1"/>
                    </a:solidFill>
                  </a:rPr>
                  <a:t>Solution</a:t>
                </a:r>
                <a:r>
                  <a:rPr lang="en-US" sz="2400" dirty="0">
                    <a:solidFill>
                      <a:schemeClr val="tx1"/>
                    </a:solidFill>
                  </a:rPr>
                  <a:t>: </a:t>
                </a:r>
              </a:p>
              <a:p>
                <a:pPr marL="0" indent="0">
                  <a:buNone/>
                </a:pPr>
                <a:r>
                  <a:rPr lang="en-US" sz="2400" dirty="0">
                    <a:solidFill>
                      <a:schemeClr val="tx1"/>
                    </a:solidFill>
                  </a:rPr>
                  <a:t>Let p be the proposition "It is below freezing now," and let q be the proposition "It is raining now." </a:t>
                </a:r>
              </a:p>
              <a:p>
                <a:pPr marL="0" indent="0">
                  <a:buNone/>
                </a:pPr>
                <a:r>
                  <a:rPr lang="en-US" sz="2400" dirty="0">
                    <a:solidFill>
                      <a:schemeClr val="tx1"/>
                    </a:solidFill>
                  </a:rPr>
                  <a:t>This argument is of the form</a:t>
                </a:r>
              </a:p>
              <a:p>
                <a:pPr marL="0" indent="0">
                  <a:buNone/>
                </a:pPr>
                <a:r>
                  <a:rPr lang="en-US" sz="2400" dirty="0">
                    <a:solidFill>
                      <a:schemeClr val="tx1"/>
                    </a:solidFill>
                  </a:rPr>
                  <a:t>			</a:t>
                </a:r>
                <a:r>
                  <a:rPr lang="en-US" sz="2400" i="1" dirty="0">
                    <a:solidFill>
                      <a:schemeClr val="tx1"/>
                    </a:solidFill>
                  </a:rPr>
                  <a:t>p ^ q</a:t>
                </a:r>
              </a:p>
              <a:p>
                <a:pPr marL="0" indent="0">
                  <a:buNone/>
                </a:pPr>
                <a:r>
                  <a:rPr lang="en-US" sz="2400" i="1" dirty="0">
                    <a:solidFill>
                      <a:schemeClr val="tx1"/>
                    </a:solidFill>
                  </a:rPr>
                  <a:t>			</a:t>
                </a:r>
                <a14:m>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m:t>
                    </m:r>
                  </m:oMath>
                </a14:m>
                <a:r>
                  <a:rPr lang="en-US" sz="2400" i="1" dirty="0">
                    <a:solidFill>
                      <a:schemeClr val="tx1"/>
                    </a:solidFill>
                  </a:rPr>
                  <a:t> p</a:t>
                </a:r>
              </a:p>
              <a:p>
                <a:pPr marL="0" indent="0">
                  <a:buNone/>
                </a:pPr>
                <a:r>
                  <a:rPr lang="en-US" sz="2400" dirty="0">
                    <a:solidFill>
                      <a:schemeClr val="tx1"/>
                    </a:solidFill>
                  </a:rPr>
                  <a:t>This argument uses the simplification rule.</a:t>
                </a:r>
              </a:p>
              <a:p>
                <a:pPr marL="0" indent="0">
                  <a:buNone/>
                </a:pPr>
                <a:endParaRPr lang="en-US" sz="24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47536" y="1288210"/>
                <a:ext cx="9440924" cy="5250604"/>
              </a:xfrm>
              <a:blipFill>
                <a:blip r:embed="rId2"/>
                <a:stretch>
                  <a:fillRect l="-1034" t="-928" r="-129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3C17577-0B44-47D5-BF4C-231DD1F36FC0}" type="slidenum">
              <a:rPr lang="en-US" smtClean="0"/>
              <a:t>25</a:t>
            </a:fld>
            <a:endParaRPr lang="en-US"/>
          </a:p>
        </p:txBody>
      </p:sp>
    </p:spTree>
    <p:extLst>
      <p:ext uri="{BB962C8B-B14F-4D97-AF65-F5344CB8AC3E}">
        <p14:creationId xmlns:p14="http://schemas.microsoft.com/office/powerpoint/2010/main" val="806366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7536" y="695995"/>
            <a:ext cx="8911687" cy="592215"/>
          </a:xfrm>
        </p:spPr>
        <p:txBody>
          <a:bodyPr>
            <a:normAutofit fontScale="90000"/>
          </a:bodyPr>
          <a:lstStyle/>
          <a:p>
            <a:r>
              <a:rPr lang="en-US" b="1" dirty="0"/>
              <a:t>Several rules of inference</a:t>
            </a:r>
          </a:p>
        </p:txBody>
      </p:sp>
      <p:sp>
        <p:nvSpPr>
          <p:cNvPr id="3" name="Content Placeholder 2"/>
          <p:cNvSpPr>
            <a:spLocks noGrp="1"/>
          </p:cNvSpPr>
          <p:nvPr>
            <p:ph idx="1"/>
          </p:nvPr>
        </p:nvSpPr>
        <p:spPr>
          <a:xfrm>
            <a:off x="1311578" y="1290545"/>
            <a:ext cx="9737422" cy="5250604"/>
          </a:xfrm>
          <a:noFill/>
        </p:spPr>
        <p:txBody>
          <a:bodyPr>
            <a:noAutofit/>
          </a:bodyPr>
          <a:lstStyle/>
          <a:p>
            <a:pPr marL="0" indent="0">
              <a:buNone/>
            </a:pPr>
            <a:r>
              <a:rPr lang="en-US" sz="2400" dirty="0">
                <a:solidFill>
                  <a:schemeClr val="tx1"/>
                </a:solidFill>
              </a:rPr>
              <a:t>When there are many premises, several rules of inference are often needed to show that an argument is valid. </a:t>
            </a:r>
          </a:p>
          <a:p>
            <a:pPr marL="0" indent="0">
              <a:buNone/>
            </a:pPr>
            <a:r>
              <a:rPr lang="en-US" sz="2400" dirty="0">
                <a:solidFill>
                  <a:schemeClr val="tx1"/>
                </a:solidFill>
              </a:rPr>
              <a:t>This is illustrated by Examples below, where the steps of arguments are displayed on separate lines, with the reason for each step explicitly stated. </a:t>
            </a:r>
          </a:p>
          <a:p>
            <a:pPr marL="0" indent="0">
              <a:buNone/>
            </a:pPr>
            <a:r>
              <a:rPr lang="en-US" sz="2400" dirty="0">
                <a:solidFill>
                  <a:schemeClr val="tx1"/>
                </a:solidFill>
              </a:rPr>
              <a:t>These examples also show how arguments in English can be analyzed using rules of inference.</a:t>
            </a:r>
          </a:p>
          <a:p>
            <a:pPr marL="0" indent="0">
              <a:buNone/>
            </a:pP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26</a:t>
            </a:fld>
            <a:endParaRPr lang="en-US"/>
          </a:p>
        </p:txBody>
      </p:sp>
    </p:spTree>
    <p:extLst>
      <p:ext uri="{BB962C8B-B14F-4D97-AF65-F5344CB8AC3E}">
        <p14:creationId xmlns:p14="http://schemas.microsoft.com/office/powerpoint/2010/main" val="2364172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7536" y="695995"/>
            <a:ext cx="8911687" cy="592215"/>
          </a:xfrm>
        </p:spPr>
        <p:txBody>
          <a:bodyPr>
            <a:normAutofit fontScale="90000"/>
          </a:bodyPr>
          <a:lstStyle/>
          <a:p>
            <a:r>
              <a:rPr lang="en-US" b="1" dirty="0"/>
              <a:t>Example 14</a:t>
            </a:r>
          </a:p>
        </p:txBody>
      </p:sp>
      <p:sp>
        <p:nvSpPr>
          <p:cNvPr id="3" name="Content Placeholder 2"/>
          <p:cNvSpPr>
            <a:spLocks noGrp="1"/>
          </p:cNvSpPr>
          <p:nvPr>
            <p:ph idx="1"/>
          </p:nvPr>
        </p:nvSpPr>
        <p:spPr>
          <a:xfrm>
            <a:off x="1200150" y="1288210"/>
            <a:ext cx="10001250" cy="5407865"/>
          </a:xfrm>
          <a:noFill/>
          <a:ln w="12700">
            <a:solidFill>
              <a:schemeClr val="tx1"/>
            </a:solidFill>
          </a:ln>
        </p:spPr>
        <p:txBody>
          <a:bodyPr>
            <a:noAutofit/>
          </a:bodyPr>
          <a:lstStyle/>
          <a:p>
            <a:pPr marL="0" indent="0" algn="just">
              <a:buNone/>
            </a:pPr>
            <a:r>
              <a:rPr lang="en-US" sz="2400" dirty="0">
                <a:latin typeface="Palatino-Italic"/>
              </a:rPr>
              <a:t>Show that the hypotheses </a:t>
            </a:r>
          </a:p>
          <a:p>
            <a:pPr marL="0" indent="0" algn="just">
              <a:buNone/>
            </a:pPr>
            <a:r>
              <a:rPr lang="en-US" sz="2400" i="1" dirty="0">
                <a:latin typeface="Palatino-Italic"/>
              </a:rPr>
              <a:t>‘It is not sunny this afternoon and it is colder than yesterday’, ‘We will go swimming only if it is sunny’, ‘If we do not go swimming, then we will take a canoe trip’, and ‘If we take a canoe trip, then we will be home by sunset’ lead to conclusion ‘We will be home by sunset’.</a:t>
            </a:r>
          </a:p>
          <a:p>
            <a:pPr marL="0" indent="0" algn="just">
              <a:buNone/>
            </a:pPr>
            <a:r>
              <a:rPr lang="en-US" sz="2400" b="1" dirty="0">
                <a:latin typeface="Palatino-Bold"/>
              </a:rPr>
              <a:t>Solution</a:t>
            </a:r>
          </a:p>
          <a:p>
            <a:pPr marL="0" indent="0" algn="just">
              <a:buNone/>
            </a:pPr>
            <a:r>
              <a:rPr lang="en-US" sz="2400" dirty="0">
                <a:latin typeface="Palatino-Roman"/>
              </a:rPr>
              <a:t>Let </a:t>
            </a:r>
            <a:r>
              <a:rPr lang="en-US" sz="2400" i="1" dirty="0">
                <a:solidFill>
                  <a:srgbClr val="FF0000"/>
                </a:solidFill>
                <a:latin typeface="CMMI10"/>
              </a:rPr>
              <a:t>p</a:t>
            </a:r>
            <a:r>
              <a:rPr lang="en-US" sz="2400" dirty="0">
                <a:latin typeface="CMMI10"/>
              </a:rPr>
              <a:t> </a:t>
            </a:r>
            <a:r>
              <a:rPr lang="en-US" sz="2400" dirty="0">
                <a:latin typeface="Palatino-Roman"/>
              </a:rPr>
              <a:t>be the proposition ‘</a:t>
            </a:r>
            <a:r>
              <a:rPr lang="en-US" sz="2400" dirty="0">
                <a:solidFill>
                  <a:srgbClr val="FF0000"/>
                </a:solidFill>
                <a:latin typeface="Palatino-Roman"/>
              </a:rPr>
              <a:t>It is sunny this afternoon</a:t>
            </a:r>
            <a:r>
              <a:rPr lang="en-US" sz="2400" dirty="0">
                <a:latin typeface="Palatino-Roman"/>
              </a:rPr>
              <a:t>’,</a:t>
            </a:r>
          </a:p>
          <a:p>
            <a:pPr marL="0" indent="0" algn="just">
              <a:buNone/>
            </a:pPr>
            <a:r>
              <a:rPr lang="en-US" sz="2400" i="1" dirty="0">
                <a:solidFill>
                  <a:srgbClr val="FF0000"/>
                </a:solidFill>
                <a:latin typeface="CMMI10"/>
              </a:rPr>
              <a:t>q</a:t>
            </a:r>
            <a:r>
              <a:rPr lang="en-US" sz="2400" dirty="0">
                <a:latin typeface="CMMI10"/>
              </a:rPr>
              <a:t> </a:t>
            </a:r>
            <a:r>
              <a:rPr lang="en-US" sz="2400" dirty="0">
                <a:latin typeface="Palatino-Roman"/>
              </a:rPr>
              <a:t>the proposition </a:t>
            </a:r>
            <a:r>
              <a:rPr lang="en-US" sz="2400" dirty="0">
                <a:solidFill>
                  <a:srgbClr val="FF0000"/>
                </a:solidFill>
                <a:latin typeface="Palatino-Roman"/>
              </a:rPr>
              <a:t>‘It is colder than yesterday</a:t>
            </a:r>
            <a:r>
              <a:rPr lang="en-US" sz="2400" dirty="0">
                <a:latin typeface="Palatino-Roman"/>
              </a:rPr>
              <a:t>’,</a:t>
            </a:r>
          </a:p>
          <a:p>
            <a:pPr marL="0" indent="0" algn="just">
              <a:buNone/>
            </a:pPr>
            <a:r>
              <a:rPr lang="en-US" sz="2400" i="1" dirty="0">
                <a:solidFill>
                  <a:srgbClr val="FF0000"/>
                </a:solidFill>
                <a:latin typeface="CMMI10"/>
              </a:rPr>
              <a:t>r</a:t>
            </a:r>
            <a:r>
              <a:rPr lang="en-US" sz="2400" dirty="0">
                <a:solidFill>
                  <a:srgbClr val="FF0000"/>
                </a:solidFill>
                <a:latin typeface="CMMI10"/>
              </a:rPr>
              <a:t> </a:t>
            </a:r>
            <a:r>
              <a:rPr lang="en-US" sz="2400" dirty="0">
                <a:latin typeface="Palatino-Roman"/>
              </a:rPr>
              <a:t>the proposition ‘</a:t>
            </a:r>
            <a:r>
              <a:rPr lang="en-US" sz="2400" dirty="0">
                <a:solidFill>
                  <a:srgbClr val="FF0000"/>
                </a:solidFill>
                <a:latin typeface="Palatino-Roman"/>
              </a:rPr>
              <a:t>We will go swimming</a:t>
            </a:r>
            <a:r>
              <a:rPr lang="en-US" sz="2400" dirty="0">
                <a:latin typeface="Palatino-Roman"/>
              </a:rPr>
              <a:t>’,</a:t>
            </a:r>
          </a:p>
          <a:p>
            <a:pPr marL="0" indent="0" algn="just">
              <a:buNone/>
            </a:pPr>
            <a:r>
              <a:rPr lang="en-US" sz="2400" i="1" dirty="0">
                <a:solidFill>
                  <a:srgbClr val="FF0000"/>
                </a:solidFill>
                <a:latin typeface="CMMI10"/>
              </a:rPr>
              <a:t>s</a:t>
            </a:r>
            <a:r>
              <a:rPr lang="en-US" sz="2400" dirty="0">
                <a:solidFill>
                  <a:srgbClr val="FF0000"/>
                </a:solidFill>
                <a:latin typeface="CMMI10"/>
              </a:rPr>
              <a:t> </a:t>
            </a:r>
            <a:r>
              <a:rPr lang="en-US" sz="2400" dirty="0">
                <a:latin typeface="Palatino-Roman"/>
              </a:rPr>
              <a:t>the proposition ‘</a:t>
            </a:r>
            <a:r>
              <a:rPr lang="en-US" sz="2400" dirty="0">
                <a:solidFill>
                  <a:srgbClr val="FF0000"/>
                </a:solidFill>
                <a:latin typeface="Palatino-Roman"/>
              </a:rPr>
              <a:t>We will take a canoe trip</a:t>
            </a:r>
            <a:r>
              <a:rPr lang="en-US" sz="2400" dirty="0">
                <a:latin typeface="Palatino-Roman"/>
              </a:rPr>
              <a:t>’,</a:t>
            </a:r>
          </a:p>
          <a:p>
            <a:pPr marL="0" indent="0" algn="just">
              <a:buNone/>
            </a:pPr>
            <a:r>
              <a:rPr lang="en-US" sz="2400" dirty="0">
                <a:latin typeface="Palatino-Roman"/>
              </a:rPr>
              <a:t>and </a:t>
            </a:r>
            <a:r>
              <a:rPr lang="en-US" sz="2400" i="1" dirty="0">
                <a:solidFill>
                  <a:srgbClr val="FF0000"/>
                </a:solidFill>
                <a:latin typeface="CMMI10"/>
              </a:rPr>
              <a:t>t</a:t>
            </a:r>
            <a:r>
              <a:rPr lang="en-US" sz="2400" dirty="0">
                <a:latin typeface="CMMI10"/>
              </a:rPr>
              <a:t> </a:t>
            </a:r>
            <a:r>
              <a:rPr lang="en-US" sz="2400" dirty="0">
                <a:latin typeface="Palatino-Roman"/>
              </a:rPr>
              <a:t>the proposition ‘</a:t>
            </a:r>
            <a:r>
              <a:rPr lang="en-US" sz="2400" dirty="0">
                <a:solidFill>
                  <a:srgbClr val="FF0000"/>
                </a:solidFill>
                <a:latin typeface="Palatino-Roman"/>
              </a:rPr>
              <a:t>We will be home by sunset</a:t>
            </a:r>
            <a:r>
              <a:rPr lang="en-US" sz="2400" dirty="0">
                <a:latin typeface="Palatino-Roman"/>
              </a:rPr>
              <a:t>’.</a:t>
            </a:r>
          </a:p>
          <a:p>
            <a:pPr marL="0" indent="0" algn="just">
              <a:buNone/>
            </a:pPr>
            <a:endParaRPr lang="en-US" sz="2400" dirty="0">
              <a:solidFill>
                <a:schemeClr val="tx1"/>
              </a:solidFill>
            </a:endParaRPr>
          </a:p>
          <a:p>
            <a:pPr marL="0" indent="0" algn="just">
              <a:buNone/>
            </a:pP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27</a:t>
            </a:fld>
            <a:endParaRPr lang="en-US"/>
          </a:p>
        </p:txBody>
      </p:sp>
    </p:spTree>
    <p:extLst>
      <p:ext uri="{BB962C8B-B14F-4D97-AF65-F5344CB8AC3E}">
        <p14:creationId xmlns:p14="http://schemas.microsoft.com/office/powerpoint/2010/main" val="3910424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7536" y="695995"/>
            <a:ext cx="8911687" cy="592215"/>
          </a:xfrm>
        </p:spPr>
        <p:txBody>
          <a:bodyPr>
            <a:normAutofit fontScale="90000"/>
          </a:bodyPr>
          <a:lstStyle/>
          <a:p>
            <a:r>
              <a:rPr lang="en-US" b="1" dirty="0"/>
              <a:t>Example 14 </a:t>
            </a:r>
            <a:r>
              <a:rPr lang="en-US" b="1" dirty="0" err="1"/>
              <a:t>cnt</a:t>
            </a:r>
            <a:r>
              <a:rPr lang="en-US" b="1" dirty="0"/>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00150" y="1288211"/>
                <a:ext cx="5029200" cy="3933612"/>
              </a:xfrm>
              <a:noFill/>
              <a:ln w="12700">
                <a:solidFill>
                  <a:schemeClr val="tx1"/>
                </a:solidFill>
              </a:ln>
            </p:spPr>
            <p:txBody>
              <a:bodyPr>
                <a:noAutofit/>
              </a:bodyPr>
              <a:lstStyle/>
              <a:p>
                <a:pPr marL="0" indent="0" algn="just">
                  <a:buNone/>
                </a:pPr>
                <a:r>
                  <a:rPr lang="en-US" dirty="0">
                    <a:latin typeface="Palatino-Italic"/>
                  </a:rPr>
                  <a:t>Show that the hypotheses </a:t>
                </a:r>
                <a:r>
                  <a:rPr lang="en-US" i="1" dirty="0">
                    <a:latin typeface="Palatino-Italic"/>
                  </a:rPr>
                  <a:t>‘It is </a:t>
                </a:r>
                <a:r>
                  <a:rPr lang="en-US" i="1" dirty="0">
                    <a:solidFill>
                      <a:srgbClr val="FF0000"/>
                    </a:solidFill>
                    <a:latin typeface="Palatino-Italic"/>
                  </a:rPr>
                  <a:t>not</a:t>
                </a:r>
                <a:r>
                  <a:rPr lang="en-US" i="1" dirty="0">
                    <a:latin typeface="Palatino-Italic"/>
                  </a:rPr>
                  <a:t> </a:t>
                </a:r>
                <a:r>
                  <a:rPr lang="en-US" i="1" dirty="0">
                    <a:solidFill>
                      <a:srgbClr val="FF0000"/>
                    </a:solidFill>
                    <a:latin typeface="Palatino-Italic"/>
                  </a:rPr>
                  <a:t>sunny this afternoon</a:t>
                </a:r>
                <a:r>
                  <a:rPr lang="en-US" i="1" dirty="0">
                    <a:latin typeface="Palatino-Italic"/>
                  </a:rPr>
                  <a:t> </a:t>
                </a:r>
                <a:r>
                  <a:rPr lang="en-US" i="1" dirty="0">
                    <a:solidFill>
                      <a:srgbClr val="FF0000"/>
                    </a:solidFill>
                    <a:latin typeface="Palatino-Italic"/>
                  </a:rPr>
                  <a:t>(</a:t>
                </a:r>
                <a:r>
                  <a:rPr lang="en-US" i="1" dirty="0">
                    <a:solidFill>
                      <a:srgbClr val="FF0000"/>
                    </a:solidFill>
                    <a:latin typeface="CMSY10"/>
                  </a:rPr>
                  <a:t>¬</a:t>
                </a:r>
                <a:r>
                  <a:rPr lang="en-US" i="1" dirty="0">
                    <a:solidFill>
                      <a:srgbClr val="FF0000"/>
                    </a:solidFill>
                    <a:latin typeface="CMMI10"/>
                  </a:rPr>
                  <a:t>p</a:t>
                </a:r>
                <a:r>
                  <a:rPr lang="en-US" i="1" dirty="0">
                    <a:solidFill>
                      <a:srgbClr val="FF0000"/>
                    </a:solidFill>
                    <a:latin typeface="Palatino-Italic"/>
                  </a:rPr>
                  <a:t>) </a:t>
                </a:r>
                <a:r>
                  <a:rPr lang="en-US" i="1" dirty="0">
                    <a:solidFill>
                      <a:schemeClr val="accent6">
                        <a:lumMod val="50000"/>
                      </a:schemeClr>
                    </a:solidFill>
                    <a:latin typeface="Palatino-Italic"/>
                  </a:rPr>
                  <a:t>and</a:t>
                </a:r>
                <a:r>
                  <a:rPr lang="en-US" i="1" dirty="0">
                    <a:latin typeface="Palatino-Italic"/>
                  </a:rPr>
                  <a:t> it is </a:t>
                </a:r>
                <a:r>
                  <a:rPr lang="en-US" i="1" dirty="0">
                    <a:solidFill>
                      <a:srgbClr val="FF0000"/>
                    </a:solidFill>
                    <a:latin typeface="Palatino-Italic"/>
                  </a:rPr>
                  <a:t>colder than yesterday (q)</a:t>
                </a:r>
                <a:r>
                  <a:rPr lang="en-US" i="1" dirty="0">
                    <a:latin typeface="Palatino-Italic"/>
                  </a:rPr>
                  <a:t>’, ‘We </a:t>
                </a:r>
                <a:r>
                  <a:rPr lang="en-US" i="1" dirty="0">
                    <a:solidFill>
                      <a:srgbClr val="FF0000"/>
                    </a:solidFill>
                    <a:latin typeface="Palatino-Italic"/>
                  </a:rPr>
                  <a:t>will go swimming (r)</a:t>
                </a:r>
                <a:r>
                  <a:rPr lang="en-US" i="1" dirty="0">
                    <a:latin typeface="Palatino-Italic"/>
                  </a:rPr>
                  <a:t> only if </a:t>
                </a:r>
                <a:r>
                  <a:rPr lang="en-US" i="1" dirty="0">
                    <a:solidFill>
                      <a:srgbClr val="FF0000"/>
                    </a:solidFill>
                    <a:latin typeface="Palatino-Italic"/>
                  </a:rPr>
                  <a:t>it is sunny (p)</a:t>
                </a:r>
                <a:r>
                  <a:rPr lang="en-US" i="1" dirty="0">
                    <a:latin typeface="Palatino-Italic"/>
                  </a:rPr>
                  <a:t>’, ‘If we </a:t>
                </a:r>
                <a:r>
                  <a:rPr lang="en-US" i="1" dirty="0">
                    <a:solidFill>
                      <a:srgbClr val="FF0000"/>
                    </a:solidFill>
                    <a:latin typeface="Palatino-Italic"/>
                  </a:rPr>
                  <a:t>do not go swimming </a:t>
                </a:r>
                <a:r>
                  <a:rPr lang="en-US" dirty="0">
                    <a:solidFill>
                      <a:srgbClr val="FF0000"/>
                    </a:solidFill>
                    <a:latin typeface="Palatino-Italic"/>
                  </a:rPr>
                  <a:t>(</a:t>
                </a:r>
                <a:r>
                  <a:rPr lang="en-US" i="1" dirty="0">
                    <a:solidFill>
                      <a:srgbClr val="FF0000"/>
                    </a:solidFill>
                    <a:latin typeface="CMSY10"/>
                  </a:rPr>
                  <a:t>¬</a:t>
                </a:r>
                <a:r>
                  <a:rPr lang="en-US" i="1" dirty="0">
                    <a:solidFill>
                      <a:srgbClr val="FF0000"/>
                    </a:solidFill>
                    <a:latin typeface="CMMI10"/>
                  </a:rPr>
                  <a:t>r)</a:t>
                </a:r>
                <a:r>
                  <a:rPr lang="en-US" dirty="0">
                    <a:solidFill>
                      <a:srgbClr val="FF0000"/>
                    </a:solidFill>
                    <a:latin typeface="Palatino-Italic"/>
                  </a:rPr>
                  <a:t>,</a:t>
                </a:r>
                <a:r>
                  <a:rPr lang="en-US" i="1" dirty="0">
                    <a:solidFill>
                      <a:srgbClr val="FF0000"/>
                    </a:solidFill>
                    <a:latin typeface="Palatino-Italic"/>
                  </a:rPr>
                  <a:t> </a:t>
                </a:r>
                <a:r>
                  <a:rPr lang="en-US" i="1" dirty="0">
                    <a:latin typeface="Palatino-Italic"/>
                  </a:rPr>
                  <a:t>then we will </a:t>
                </a:r>
                <a:r>
                  <a:rPr lang="en-US" i="1" dirty="0">
                    <a:solidFill>
                      <a:srgbClr val="FF0000"/>
                    </a:solidFill>
                    <a:latin typeface="Palatino-Italic"/>
                  </a:rPr>
                  <a:t>take a canoe trip(s)</a:t>
                </a:r>
                <a:r>
                  <a:rPr lang="en-US" i="1" dirty="0">
                    <a:latin typeface="Palatino-Italic"/>
                  </a:rPr>
                  <a:t>’, and  ‘If we </a:t>
                </a:r>
                <a:r>
                  <a:rPr lang="en-US" i="1" dirty="0">
                    <a:solidFill>
                      <a:srgbClr val="FF0000"/>
                    </a:solidFill>
                    <a:latin typeface="Palatino-Italic"/>
                  </a:rPr>
                  <a:t>take a canoe trip (s)</a:t>
                </a:r>
                <a:r>
                  <a:rPr lang="en-US" i="1" dirty="0">
                    <a:latin typeface="Palatino-Italic"/>
                  </a:rPr>
                  <a:t>, then we will be </a:t>
                </a:r>
                <a:r>
                  <a:rPr lang="en-US" i="1" dirty="0">
                    <a:solidFill>
                      <a:srgbClr val="FF0000"/>
                    </a:solidFill>
                    <a:latin typeface="Palatino-Italic"/>
                  </a:rPr>
                  <a:t>home by sunset (t)</a:t>
                </a:r>
                <a:r>
                  <a:rPr lang="en-US" i="1" dirty="0">
                    <a:latin typeface="Palatino-Italic"/>
                  </a:rPr>
                  <a:t>’ </a:t>
                </a:r>
                <a:r>
                  <a:rPr lang="en-US" dirty="0">
                    <a:latin typeface="Palatino-Italic"/>
                  </a:rPr>
                  <a:t>lead to conclusion</a:t>
                </a:r>
                <a:r>
                  <a:rPr lang="en-US" i="1" dirty="0">
                    <a:latin typeface="Palatino-Italic"/>
                  </a:rPr>
                  <a:t> ‘We will be </a:t>
                </a:r>
                <a:r>
                  <a:rPr lang="en-US" i="1" dirty="0">
                    <a:solidFill>
                      <a:srgbClr val="FF0000"/>
                    </a:solidFill>
                    <a:latin typeface="Palatino-Italic"/>
                  </a:rPr>
                  <a:t>home by sunset (t)</a:t>
                </a:r>
                <a:r>
                  <a:rPr lang="en-US" i="1" dirty="0">
                    <a:latin typeface="Palatino-Italic"/>
                  </a:rPr>
                  <a:t>’ </a:t>
                </a:r>
              </a:p>
              <a:p>
                <a:pPr marL="0" indent="0" algn="just">
                  <a:buNone/>
                </a:pPr>
                <a:endParaRPr lang="en-US" dirty="0">
                  <a:solidFill>
                    <a:schemeClr val="tx1"/>
                  </a:solidFill>
                </a:endParaRPr>
              </a:p>
              <a:p>
                <a:pPr marL="0" indent="0">
                  <a:buNone/>
                </a:pPr>
                <a:r>
                  <a:rPr lang="en-US" dirty="0">
                    <a:latin typeface="Palatino-Roman"/>
                  </a:rPr>
                  <a:t>Then the hypotheses are </a:t>
                </a:r>
              </a:p>
              <a:p>
                <a:r>
                  <a:rPr lang="en-US" dirty="0">
                    <a:latin typeface="CMSY10"/>
                  </a:rPr>
                  <a:t>¬</a:t>
                </a:r>
                <a:r>
                  <a:rPr lang="en-US" dirty="0">
                    <a:latin typeface="CMMI10"/>
                  </a:rPr>
                  <a:t>p </a:t>
                </a:r>
                <a:r>
                  <a:rPr lang="en-US" dirty="0">
                    <a:latin typeface="CMSY10"/>
                  </a:rPr>
                  <a:t>^ </a:t>
                </a:r>
                <a:r>
                  <a:rPr lang="en-US" dirty="0">
                    <a:latin typeface="CMMI10"/>
                  </a:rPr>
                  <a:t>q</a:t>
                </a:r>
                <a:r>
                  <a:rPr lang="en-US" dirty="0">
                    <a:latin typeface="Palatino-Roman"/>
                  </a:rPr>
                  <a:t>, </a:t>
                </a:r>
                <a:r>
                  <a:rPr lang="en-US" dirty="0">
                    <a:latin typeface="CMMI10"/>
                  </a:rPr>
                  <a:t>r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a:latin typeface="CMSY10"/>
                  </a:rPr>
                  <a:t> </a:t>
                </a:r>
                <a:r>
                  <a:rPr lang="en-US" dirty="0">
                    <a:latin typeface="CMMI10"/>
                  </a:rPr>
                  <a:t>p</a:t>
                </a:r>
                <a:r>
                  <a:rPr lang="en-US" dirty="0">
                    <a:latin typeface="Palatino-Roman"/>
                  </a:rPr>
                  <a:t>, </a:t>
                </a:r>
                <a:r>
                  <a:rPr lang="en-US" dirty="0">
                    <a:latin typeface="CMSY10"/>
                  </a:rPr>
                  <a:t>¬</a:t>
                </a:r>
                <a:r>
                  <a:rPr lang="en-US" dirty="0">
                    <a:latin typeface="CMMI10"/>
                  </a:rPr>
                  <a:t>r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a:latin typeface="CMSY10"/>
                  </a:rPr>
                  <a:t> </a:t>
                </a:r>
                <a:r>
                  <a:rPr lang="en-US" dirty="0">
                    <a:latin typeface="CMMI10"/>
                  </a:rPr>
                  <a:t>s</a:t>
                </a:r>
                <a:r>
                  <a:rPr lang="en-US" dirty="0">
                    <a:latin typeface="Palatino-Roman"/>
                  </a:rPr>
                  <a:t>, and </a:t>
                </a:r>
                <a:r>
                  <a:rPr lang="en-US" dirty="0">
                    <a:latin typeface="CMMI10"/>
                  </a:rPr>
                  <a:t>s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a:latin typeface="CMSY10"/>
                  </a:rPr>
                  <a:t> </a:t>
                </a:r>
                <a:r>
                  <a:rPr lang="en-US" dirty="0">
                    <a:latin typeface="CMMI10"/>
                  </a:rPr>
                  <a:t>t</a:t>
                </a:r>
                <a:r>
                  <a:rPr lang="en-US" dirty="0">
                    <a:latin typeface="Palatino-Roman"/>
                  </a:rPr>
                  <a:t>.</a:t>
                </a:r>
              </a:p>
              <a:p>
                <a:r>
                  <a:rPr lang="en-US" dirty="0">
                    <a:latin typeface="Palatino-Roman"/>
                  </a:rPr>
                  <a:t>The conclusion is simply </a:t>
                </a:r>
                <a:r>
                  <a:rPr lang="en-US" dirty="0">
                    <a:latin typeface="CMMI10"/>
                  </a:rPr>
                  <a:t>t</a:t>
                </a:r>
                <a:r>
                  <a:rPr lang="en-US" dirty="0">
                    <a:latin typeface="Palatino-Roman"/>
                  </a:rPr>
                  <a:t>.</a:t>
                </a:r>
              </a:p>
              <a:p>
                <a:pPr marL="0" indent="0" algn="just">
                  <a:buNone/>
                </a:pPr>
                <a:endParaRPr lang="en-US"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00150" y="1288211"/>
                <a:ext cx="5029200" cy="3933612"/>
              </a:xfrm>
              <a:blipFill>
                <a:blip r:embed="rId2"/>
                <a:stretch>
                  <a:fillRect l="-967" t="-617" r="-846"/>
                </a:stretch>
              </a:blipFill>
              <a:ln w="12700">
                <a:solidFill>
                  <a:schemeClr val="tx1"/>
                </a:solidFill>
              </a:ln>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3C17577-0B44-47D5-BF4C-231DD1F36FC0}" type="slidenum">
              <a:rPr lang="en-US" smtClean="0"/>
              <a:t>28</a:t>
            </a:fld>
            <a:endParaRPr lang="en-US"/>
          </a:p>
        </p:txBody>
      </p:sp>
      <p:sp>
        <p:nvSpPr>
          <p:cNvPr id="5" name="Rectangle 4"/>
          <p:cNvSpPr/>
          <p:nvPr/>
        </p:nvSpPr>
        <p:spPr>
          <a:xfrm>
            <a:off x="6505575" y="1269542"/>
            <a:ext cx="5286375" cy="923330"/>
          </a:xfrm>
          <a:prstGeom prst="rect">
            <a:avLst/>
          </a:prstGeom>
        </p:spPr>
        <p:txBody>
          <a:bodyPr wrap="square">
            <a:spAutoFit/>
          </a:bodyPr>
          <a:lstStyle/>
          <a:p>
            <a:r>
              <a:rPr lang="en-US" dirty="0">
                <a:latin typeface="Palatino-Roman"/>
              </a:rPr>
              <a:t>We construct an argument to show that our hypotheses lead to the desired conclusion as follows.</a:t>
            </a:r>
            <a:endParaRPr lang="en-US" dirty="0">
              <a:latin typeface="Palatino-Bold"/>
            </a:endParaRPr>
          </a:p>
        </p:txBody>
      </p:sp>
      <p:sp>
        <p:nvSpPr>
          <p:cNvPr id="8" name="Rectangle 7"/>
          <p:cNvSpPr/>
          <p:nvPr/>
        </p:nvSpPr>
        <p:spPr>
          <a:xfrm>
            <a:off x="6505575" y="2192872"/>
            <a:ext cx="5165965" cy="3477875"/>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000000"/>
                </a:solidFill>
                <a:latin typeface="Times New Roman" panose="02020603050405020304" pitchFamily="18" charset="0"/>
              </a:rPr>
              <a:t>We begin with </a:t>
            </a:r>
            <a:r>
              <a:rPr lang="en-US" sz="2000" b="1" dirty="0">
                <a:solidFill>
                  <a:srgbClr val="000000"/>
                </a:solidFill>
                <a:latin typeface="Times New Roman" panose="02020603050405020304" pitchFamily="18" charset="0"/>
              </a:rPr>
              <a:t>premises</a:t>
            </a:r>
            <a:r>
              <a:rPr lang="en-US" sz="2000" dirty="0">
                <a:solidFill>
                  <a:srgbClr val="000000"/>
                </a:solidFill>
                <a:latin typeface="Times New Roman" panose="02020603050405020304" pitchFamily="18" charset="0"/>
              </a:rPr>
              <a:t> --- statements that you're allowed to assume. The </a:t>
            </a:r>
            <a:r>
              <a:rPr lang="en-US" sz="2000" b="1" dirty="0">
                <a:solidFill>
                  <a:srgbClr val="000000"/>
                </a:solidFill>
                <a:latin typeface="Times New Roman" panose="02020603050405020304" pitchFamily="18" charset="0"/>
              </a:rPr>
              <a:t>conclusion</a:t>
            </a:r>
            <a:r>
              <a:rPr lang="en-US" sz="2000" dirty="0">
                <a:solidFill>
                  <a:srgbClr val="000000"/>
                </a:solidFill>
                <a:latin typeface="Times New Roman" panose="02020603050405020304" pitchFamily="18" charset="0"/>
              </a:rPr>
              <a:t> is the statement that you need to prove. </a:t>
            </a:r>
          </a:p>
          <a:p>
            <a:pPr marL="285750" indent="-285750">
              <a:buFont typeface="Arial" panose="020B0604020202020204" pitchFamily="34" charset="0"/>
              <a:buChar char="•"/>
            </a:pPr>
            <a:r>
              <a:rPr lang="en-US" sz="2000" dirty="0">
                <a:solidFill>
                  <a:srgbClr val="000000"/>
                </a:solidFill>
                <a:latin typeface="Times New Roman" panose="02020603050405020304" pitchFamily="18" charset="0"/>
              </a:rPr>
              <a:t>We operate on the premises using rules of inference until you arrive at the conclusion.</a:t>
            </a:r>
          </a:p>
          <a:p>
            <a:pPr marL="285750" indent="-285750">
              <a:buFont typeface="Arial" panose="020B0604020202020204" pitchFamily="34" charset="0"/>
              <a:buChar char="•"/>
            </a:pPr>
            <a:r>
              <a:rPr lang="en-US" sz="2000" dirty="0">
                <a:solidFill>
                  <a:srgbClr val="000000"/>
                </a:solidFill>
                <a:latin typeface="Times New Roman" panose="02020603050405020304" pitchFamily="18" charset="0"/>
              </a:rPr>
              <a:t>The statements in logic proofs are numbered so that you can refer to them, and the numbers go in the first column. The actual statements go in the second column. The third column contains your justification for writing down the statement.</a:t>
            </a:r>
          </a:p>
        </p:txBody>
      </p:sp>
    </p:spTree>
    <p:extLst>
      <p:ext uri="{BB962C8B-B14F-4D97-AF65-F5344CB8AC3E}">
        <p14:creationId xmlns:p14="http://schemas.microsoft.com/office/powerpoint/2010/main" val="1792169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7536" y="695995"/>
            <a:ext cx="8911687" cy="592215"/>
          </a:xfrm>
        </p:spPr>
        <p:txBody>
          <a:bodyPr>
            <a:normAutofit fontScale="90000"/>
          </a:bodyPr>
          <a:lstStyle/>
          <a:p>
            <a:r>
              <a:rPr lang="en-US" b="1" dirty="0"/>
              <a:t>Example 14 </a:t>
            </a:r>
            <a:r>
              <a:rPr lang="en-US" b="1" dirty="0" err="1"/>
              <a:t>cnt</a:t>
            </a:r>
            <a:r>
              <a:rPr lang="en-US" b="1" dirty="0"/>
              <a: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00150" y="1288211"/>
                <a:ext cx="5029200" cy="3933612"/>
              </a:xfrm>
              <a:noFill/>
              <a:ln w="12700">
                <a:solidFill>
                  <a:schemeClr val="tx1"/>
                </a:solidFill>
              </a:ln>
            </p:spPr>
            <p:txBody>
              <a:bodyPr>
                <a:noAutofit/>
              </a:bodyPr>
              <a:lstStyle/>
              <a:p>
                <a:pPr marL="0" indent="0" algn="just">
                  <a:buNone/>
                </a:pPr>
                <a:r>
                  <a:rPr lang="en-US" dirty="0">
                    <a:latin typeface="Palatino-Italic"/>
                  </a:rPr>
                  <a:t>Show that the hypotheses </a:t>
                </a:r>
                <a:r>
                  <a:rPr lang="en-US" i="1" dirty="0">
                    <a:latin typeface="Palatino-Italic"/>
                  </a:rPr>
                  <a:t>‘It is </a:t>
                </a:r>
                <a:r>
                  <a:rPr lang="en-US" i="1" dirty="0">
                    <a:solidFill>
                      <a:srgbClr val="FF0000"/>
                    </a:solidFill>
                    <a:latin typeface="Palatino-Italic"/>
                  </a:rPr>
                  <a:t>not</a:t>
                </a:r>
                <a:r>
                  <a:rPr lang="en-US" i="1" dirty="0">
                    <a:latin typeface="Palatino-Italic"/>
                  </a:rPr>
                  <a:t> </a:t>
                </a:r>
                <a:r>
                  <a:rPr lang="en-US" i="1" dirty="0">
                    <a:solidFill>
                      <a:srgbClr val="FF0000"/>
                    </a:solidFill>
                    <a:latin typeface="Palatino-Italic"/>
                  </a:rPr>
                  <a:t>sunny this afternoon</a:t>
                </a:r>
                <a:r>
                  <a:rPr lang="en-US" i="1" dirty="0">
                    <a:latin typeface="Palatino-Italic"/>
                  </a:rPr>
                  <a:t> </a:t>
                </a:r>
                <a:r>
                  <a:rPr lang="en-US" i="1" dirty="0">
                    <a:solidFill>
                      <a:srgbClr val="FF0000"/>
                    </a:solidFill>
                    <a:latin typeface="Palatino-Italic"/>
                  </a:rPr>
                  <a:t>(</a:t>
                </a:r>
                <a:r>
                  <a:rPr lang="en-US" i="1" dirty="0">
                    <a:solidFill>
                      <a:srgbClr val="FF0000"/>
                    </a:solidFill>
                    <a:latin typeface="CMSY10"/>
                  </a:rPr>
                  <a:t>¬</a:t>
                </a:r>
                <a:r>
                  <a:rPr lang="en-US" i="1" dirty="0">
                    <a:solidFill>
                      <a:srgbClr val="FF0000"/>
                    </a:solidFill>
                    <a:latin typeface="CMMI10"/>
                  </a:rPr>
                  <a:t>p</a:t>
                </a:r>
                <a:r>
                  <a:rPr lang="en-US" i="1" dirty="0">
                    <a:solidFill>
                      <a:srgbClr val="FF0000"/>
                    </a:solidFill>
                    <a:latin typeface="Palatino-Italic"/>
                  </a:rPr>
                  <a:t>) </a:t>
                </a:r>
                <a:r>
                  <a:rPr lang="en-US" i="1" dirty="0">
                    <a:solidFill>
                      <a:schemeClr val="accent6">
                        <a:lumMod val="50000"/>
                      </a:schemeClr>
                    </a:solidFill>
                    <a:latin typeface="Palatino-Italic"/>
                  </a:rPr>
                  <a:t>and</a:t>
                </a:r>
                <a:r>
                  <a:rPr lang="en-US" i="1" dirty="0">
                    <a:latin typeface="Palatino-Italic"/>
                  </a:rPr>
                  <a:t> it is </a:t>
                </a:r>
                <a:r>
                  <a:rPr lang="en-US" i="1" dirty="0">
                    <a:solidFill>
                      <a:srgbClr val="FF0000"/>
                    </a:solidFill>
                    <a:latin typeface="Palatino-Italic"/>
                  </a:rPr>
                  <a:t>colder than yesterday (q)</a:t>
                </a:r>
                <a:r>
                  <a:rPr lang="en-US" i="1" dirty="0">
                    <a:latin typeface="Palatino-Italic"/>
                  </a:rPr>
                  <a:t>’, ‘We </a:t>
                </a:r>
                <a:r>
                  <a:rPr lang="en-US" i="1" dirty="0">
                    <a:solidFill>
                      <a:srgbClr val="FF0000"/>
                    </a:solidFill>
                    <a:latin typeface="Palatino-Italic"/>
                  </a:rPr>
                  <a:t>will go swimming (r)</a:t>
                </a:r>
                <a:r>
                  <a:rPr lang="en-US" i="1" dirty="0">
                    <a:latin typeface="Palatino-Italic"/>
                  </a:rPr>
                  <a:t> only if </a:t>
                </a:r>
                <a:r>
                  <a:rPr lang="en-US" i="1" dirty="0">
                    <a:solidFill>
                      <a:srgbClr val="FF0000"/>
                    </a:solidFill>
                    <a:latin typeface="Palatino-Italic"/>
                  </a:rPr>
                  <a:t>it is sunny (p)</a:t>
                </a:r>
                <a:r>
                  <a:rPr lang="en-US" i="1" dirty="0">
                    <a:latin typeface="Palatino-Italic"/>
                  </a:rPr>
                  <a:t>’, ‘If we </a:t>
                </a:r>
                <a:r>
                  <a:rPr lang="en-US" i="1" dirty="0">
                    <a:solidFill>
                      <a:srgbClr val="FF0000"/>
                    </a:solidFill>
                    <a:latin typeface="Palatino-Italic"/>
                  </a:rPr>
                  <a:t>do not go swimming </a:t>
                </a:r>
                <a:r>
                  <a:rPr lang="en-US" dirty="0">
                    <a:solidFill>
                      <a:srgbClr val="FF0000"/>
                    </a:solidFill>
                    <a:latin typeface="Palatino-Italic"/>
                  </a:rPr>
                  <a:t>(</a:t>
                </a:r>
                <a:r>
                  <a:rPr lang="en-US" i="1" dirty="0">
                    <a:solidFill>
                      <a:srgbClr val="FF0000"/>
                    </a:solidFill>
                    <a:latin typeface="CMSY10"/>
                  </a:rPr>
                  <a:t>¬</a:t>
                </a:r>
                <a:r>
                  <a:rPr lang="en-US" i="1" dirty="0">
                    <a:solidFill>
                      <a:srgbClr val="FF0000"/>
                    </a:solidFill>
                    <a:latin typeface="CMMI10"/>
                  </a:rPr>
                  <a:t>r)</a:t>
                </a:r>
                <a:r>
                  <a:rPr lang="en-US" dirty="0">
                    <a:solidFill>
                      <a:srgbClr val="FF0000"/>
                    </a:solidFill>
                    <a:latin typeface="Palatino-Italic"/>
                  </a:rPr>
                  <a:t>,</a:t>
                </a:r>
                <a:r>
                  <a:rPr lang="en-US" i="1" dirty="0">
                    <a:solidFill>
                      <a:srgbClr val="FF0000"/>
                    </a:solidFill>
                    <a:latin typeface="Palatino-Italic"/>
                  </a:rPr>
                  <a:t> </a:t>
                </a:r>
                <a:r>
                  <a:rPr lang="en-US" i="1" dirty="0">
                    <a:latin typeface="Palatino-Italic"/>
                  </a:rPr>
                  <a:t>then we will </a:t>
                </a:r>
                <a:r>
                  <a:rPr lang="en-US" i="1" dirty="0">
                    <a:solidFill>
                      <a:srgbClr val="FF0000"/>
                    </a:solidFill>
                    <a:latin typeface="Palatino-Italic"/>
                  </a:rPr>
                  <a:t>take a canoe trip(s)</a:t>
                </a:r>
                <a:r>
                  <a:rPr lang="en-US" i="1" dirty="0">
                    <a:latin typeface="Palatino-Italic"/>
                  </a:rPr>
                  <a:t>’, and  ‘If we </a:t>
                </a:r>
                <a:r>
                  <a:rPr lang="en-US" i="1" dirty="0">
                    <a:solidFill>
                      <a:srgbClr val="FF0000"/>
                    </a:solidFill>
                    <a:latin typeface="Palatino-Italic"/>
                  </a:rPr>
                  <a:t>take a canoe trip (s)</a:t>
                </a:r>
                <a:r>
                  <a:rPr lang="en-US" i="1" dirty="0">
                    <a:latin typeface="Palatino-Italic"/>
                  </a:rPr>
                  <a:t>, then we will be </a:t>
                </a:r>
                <a:r>
                  <a:rPr lang="en-US" i="1" dirty="0">
                    <a:solidFill>
                      <a:srgbClr val="FF0000"/>
                    </a:solidFill>
                    <a:latin typeface="Palatino-Italic"/>
                  </a:rPr>
                  <a:t>home by sunset (t)</a:t>
                </a:r>
                <a:r>
                  <a:rPr lang="en-US" i="1" dirty="0">
                    <a:latin typeface="Palatino-Italic"/>
                  </a:rPr>
                  <a:t>’ </a:t>
                </a:r>
                <a:r>
                  <a:rPr lang="en-US" dirty="0">
                    <a:latin typeface="Palatino-Italic"/>
                  </a:rPr>
                  <a:t>lead to conclusion</a:t>
                </a:r>
                <a:r>
                  <a:rPr lang="en-US" i="1" dirty="0">
                    <a:latin typeface="Palatino-Italic"/>
                  </a:rPr>
                  <a:t> ‘We will be </a:t>
                </a:r>
                <a:r>
                  <a:rPr lang="en-US" i="1" dirty="0">
                    <a:solidFill>
                      <a:srgbClr val="FF0000"/>
                    </a:solidFill>
                    <a:latin typeface="Palatino-Italic"/>
                  </a:rPr>
                  <a:t>home by sunset (t)</a:t>
                </a:r>
                <a:r>
                  <a:rPr lang="en-US" i="1" dirty="0">
                    <a:latin typeface="Palatino-Italic"/>
                  </a:rPr>
                  <a:t>’ </a:t>
                </a:r>
              </a:p>
              <a:p>
                <a:pPr marL="0" indent="0" algn="just">
                  <a:buNone/>
                </a:pPr>
                <a:endParaRPr lang="en-US" dirty="0">
                  <a:solidFill>
                    <a:schemeClr val="tx1"/>
                  </a:solidFill>
                </a:endParaRPr>
              </a:p>
              <a:p>
                <a:pPr marL="0" indent="0">
                  <a:buNone/>
                </a:pPr>
                <a:r>
                  <a:rPr lang="en-US" dirty="0">
                    <a:latin typeface="Palatino-Roman"/>
                  </a:rPr>
                  <a:t>Then the hypotheses are </a:t>
                </a:r>
              </a:p>
              <a:p>
                <a:r>
                  <a:rPr lang="en-US" dirty="0">
                    <a:latin typeface="CMSY10"/>
                  </a:rPr>
                  <a:t>¬</a:t>
                </a:r>
                <a:r>
                  <a:rPr lang="en-US" dirty="0">
                    <a:latin typeface="CMMI10"/>
                  </a:rPr>
                  <a:t>p </a:t>
                </a:r>
                <a:r>
                  <a:rPr lang="en-US" dirty="0">
                    <a:latin typeface="CMSY10"/>
                  </a:rPr>
                  <a:t>^ </a:t>
                </a:r>
                <a:r>
                  <a:rPr lang="en-US" dirty="0">
                    <a:latin typeface="CMMI10"/>
                  </a:rPr>
                  <a:t>q</a:t>
                </a:r>
                <a:r>
                  <a:rPr lang="en-US" dirty="0">
                    <a:latin typeface="Palatino-Roman"/>
                  </a:rPr>
                  <a:t>, </a:t>
                </a:r>
                <a:r>
                  <a:rPr lang="en-US" dirty="0">
                    <a:latin typeface="CMMI10"/>
                  </a:rPr>
                  <a:t>r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a:latin typeface="CMSY10"/>
                  </a:rPr>
                  <a:t> </a:t>
                </a:r>
                <a:r>
                  <a:rPr lang="en-US" dirty="0">
                    <a:latin typeface="CMMI10"/>
                  </a:rPr>
                  <a:t>p</a:t>
                </a:r>
                <a:r>
                  <a:rPr lang="en-US" dirty="0">
                    <a:latin typeface="Palatino-Roman"/>
                  </a:rPr>
                  <a:t>, </a:t>
                </a:r>
                <a:r>
                  <a:rPr lang="en-US" dirty="0">
                    <a:latin typeface="CMSY10"/>
                  </a:rPr>
                  <a:t>¬</a:t>
                </a:r>
                <a:r>
                  <a:rPr lang="en-US" dirty="0">
                    <a:latin typeface="CMMI10"/>
                  </a:rPr>
                  <a:t>r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a:latin typeface="CMSY10"/>
                  </a:rPr>
                  <a:t> </a:t>
                </a:r>
                <a:r>
                  <a:rPr lang="en-US" dirty="0">
                    <a:latin typeface="CMMI10"/>
                  </a:rPr>
                  <a:t>s</a:t>
                </a:r>
                <a:r>
                  <a:rPr lang="en-US" dirty="0">
                    <a:latin typeface="Palatino-Roman"/>
                  </a:rPr>
                  <a:t>, and </a:t>
                </a:r>
                <a:r>
                  <a:rPr lang="en-US" dirty="0">
                    <a:latin typeface="CMMI10"/>
                  </a:rPr>
                  <a:t>s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dirty="0">
                    <a:latin typeface="CMSY10"/>
                  </a:rPr>
                  <a:t> </a:t>
                </a:r>
                <a:r>
                  <a:rPr lang="en-US" dirty="0">
                    <a:latin typeface="CMMI10"/>
                  </a:rPr>
                  <a:t>t</a:t>
                </a:r>
                <a:r>
                  <a:rPr lang="en-US" dirty="0">
                    <a:latin typeface="Palatino-Roman"/>
                  </a:rPr>
                  <a:t>.</a:t>
                </a:r>
              </a:p>
              <a:p>
                <a:r>
                  <a:rPr lang="en-US" dirty="0">
                    <a:latin typeface="Palatino-Roman"/>
                  </a:rPr>
                  <a:t>The conclusion is simply </a:t>
                </a:r>
                <a:r>
                  <a:rPr lang="en-US" dirty="0">
                    <a:latin typeface="CMMI10"/>
                  </a:rPr>
                  <a:t>t</a:t>
                </a:r>
                <a:r>
                  <a:rPr lang="en-US" dirty="0">
                    <a:latin typeface="Palatino-Roman"/>
                  </a:rPr>
                  <a:t>.</a:t>
                </a:r>
              </a:p>
              <a:p>
                <a:pPr marL="0" indent="0" algn="just">
                  <a:buNone/>
                </a:pPr>
                <a:endParaRPr lang="en-US"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00150" y="1288211"/>
                <a:ext cx="5029200" cy="3933612"/>
              </a:xfrm>
              <a:blipFill>
                <a:blip r:embed="rId2"/>
                <a:stretch>
                  <a:fillRect l="-967" t="-617" r="-846"/>
                </a:stretch>
              </a:blipFill>
              <a:ln w="12700">
                <a:solidFill>
                  <a:schemeClr val="tx1"/>
                </a:solidFill>
              </a:ln>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3C17577-0B44-47D5-BF4C-231DD1F36FC0}" type="slidenum">
              <a:rPr lang="en-US" smtClean="0"/>
              <a:t>29</a:t>
            </a:fld>
            <a:endParaRPr lang="en-US"/>
          </a:p>
        </p:txBody>
      </p:sp>
      <p:sp>
        <p:nvSpPr>
          <p:cNvPr id="5" name="Rectangle 4"/>
          <p:cNvSpPr/>
          <p:nvPr/>
        </p:nvSpPr>
        <p:spPr>
          <a:xfrm>
            <a:off x="6505575" y="1269542"/>
            <a:ext cx="5286375" cy="923330"/>
          </a:xfrm>
          <a:prstGeom prst="rect">
            <a:avLst/>
          </a:prstGeom>
        </p:spPr>
        <p:txBody>
          <a:bodyPr wrap="square">
            <a:spAutoFit/>
          </a:bodyPr>
          <a:lstStyle/>
          <a:p>
            <a:r>
              <a:rPr lang="en-US" dirty="0">
                <a:latin typeface="Palatino-Roman"/>
              </a:rPr>
              <a:t>We construct an argument to show that our hypotheses lead to the desired conclusion as follows.</a:t>
            </a:r>
            <a:endParaRPr lang="en-US" dirty="0">
              <a:latin typeface="Palatino-Bold"/>
            </a:endParaRPr>
          </a:p>
        </p:txBody>
      </p:sp>
      <p:pic>
        <p:nvPicPr>
          <p:cNvPr id="6" name="Picture 5"/>
          <p:cNvPicPr>
            <a:picLocks noChangeAspect="1"/>
          </p:cNvPicPr>
          <p:nvPr/>
        </p:nvPicPr>
        <p:blipFill>
          <a:blip r:embed="rId3"/>
          <a:stretch>
            <a:fillRect/>
          </a:stretch>
        </p:blipFill>
        <p:spPr>
          <a:xfrm>
            <a:off x="6367859" y="2192872"/>
            <a:ext cx="5700316" cy="3028950"/>
          </a:xfrm>
          <a:prstGeom prst="rect">
            <a:avLst/>
          </a:prstGeom>
        </p:spPr>
      </p:pic>
      <p:sp>
        <p:nvSpPr>
          <p:cNvPr id="7" name="Rectangle 6"/>
          <p:cNvSpPr/>
          <p:nvPr/>
        </p:nvSpPr>
        <p:spPr>
          <a:xfrm>
            <a:off x="1200150" y="5357127"/>
            <a:ext cx="10391776" cy="923330"/>
          </a:xfrm>
          <a:prstGeom prst="rect">
            <a:avLst/>
          </a:prstGeom>
        </p:spPr>
        <p:txBody>
          <a:bodyPr wrap="square">
            <a:spAutoFit/>
          </a:bodyPr>
          <a:lstStyle/>
          <a:p>
            <a:r>
              <a:rPr lang="en-US" dirty="0">
                <a:latin typeface="Palatino-Roman"/>
              </a:rPr>
              <a:t>Note that we could have used a truth table to show that whenever each of the four hypotheses is true, the conclusion is also true. However, because we are working with five propositional variables, </a:t>
            </a:r>
            <a:r>
              <a:rPr lang="en-US" dirty="0">
                <a:latin typeface="CMMI10"/>
              </a:rPr>
              <a:t>p, q, r, s </a:t>
            </a:r>
            <a:r>
              <a:rPr lang="en-US" dirty="0">
                <a:latin typeface="Palatino-Roman"/>
              </a:rPr>
              <a:t>and </a:t>
            </a:r>
            <a:r>
              <a:rPr lang="en-US" dirty="0">
                <a:latin typeface="CMMI10"/>
              </a:rPr>
              <a:t>t</a:t>
            </a:r>
            <a:r>
              <a:rPr lang="en-US" dirty="0">
                <a:latin typeface="Palatino-Roman"/>
              </a:rPr>
              <a:t>, such a truth table would have 32 rows.</a:t>
            </a:r>
            <a:endParaRPr lang="en-US" sz="1400" dirty="0">
              <a:latin typeface="Palatino-Roman"/>
            </a:endParaRPr>
          </a:p>
        </p:txBody>
      </p:sp>
    </p:spTree>
    <p:extLst>
      <p:ext uri="{BB962C8B-B14F-4D97-AF65-F5344CB8AC3E}">
        <p14:creationId xmlns:p14="http://schemas.microsoft.com/office/powerpoint/2010/main" val="377464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1913" y="606857"/>
            <a:ext cx="9656585" cy="738864"/>
          </a:xfrm>
        </p:spPr>
        <p:txBody>
          <a:bodyPr>
            <a:normAutofit/>
          </a:bodyPr>
          <a:lstStyle/>
          <a:p>
            <a:r>
              <a:rPr lang="en-US" b="1" dirty="0"/>
              <a:t>Example 15</a:t>
            </a:r>
            <a:endParaRPr lang="en-US" dirty="0"/>
          </a:p>
        </p:txBody>
      </p:sp>
      <p:sp>
        <p:nvSpPr>
          <p:cNvPr id="3" name="Content Placeholder 2"/>
          <p:cNvSpPr>
            <a:spLocks noGrp="1"/>
          </p:cNvSpPr>
          <p:nvPr>
            <p:ph idx="1"/>
          </p:nvPr>
        </p:nvSpPr>
        <p:spPr>
          <a:xfrm>
            <a:off x="1348238" y="1268804"/>
            <a:ext cx="9827674" cy="5250612"/>
          </a:xfrm>
          <a:noFill/>
        </p:spPr>
        <p:txBody>
          <a:bodyPr>
            <a:noAutofit/>
          </a:bodyPr>
          <a:lstStyle/>
          <a:p>
            <a:pPr marL="0" indent="0">
              <a:buNone/>
            </a:pPr>
            <a:r>
              <a:rPr lang="en-US" sz="2400" dirty="0">
                <a:latin typeface="Palatino-Italic"/>
              </a:rPr>
              <a:t>Show that the hypotheses below are valid.</a:t>
            </a:r>
          </a:p>
          <a:p>
            <a:pPr marL="0" indent="0">
              <a:buNone/>
            </a:pPr>
            <a:r>
              <a:rPr lang="en-US" sz="2400" i="1" dirty="0">
                <a:latin typeface="Palatino-Italic"/>
              </a:rPr>
              <a:t>‘If you send me an email message, then I will finish writing the program’, ‘If you do not send me an email message, then I will go to sleep early’, and ‘If I go to sleep early, then I will wake up feeling refreshed’ lead to the conclusion ‘If I do not finish writing the program, then I will wake up feeling refreshed’.</a:t>
            </a:r>
            <a:endParaRPr lang="en-US" sz="2400" dirty="0">
              <a:latin typeface="Palatino-Italic"/>
            </a:endParaRPr>
          </a:p>
          <a:p>
            <a:pPr marL="0" indent="0">
              <a:buNone/>
            </a:pPr>
            <a:r>
              <a:rPr lang="en-US" sz="2400" b="1" dirty="0">
                <a:latin typeface="Palatino-Bold"/>
              </a:rPr>
              <a:t>Solution</a:t>
            </a:r>
          </a:p>
          <a:p>
            <a:pPr marL="0" indent="0">
              <a:buNone/>
            </a:pPr>
            <a:r>
              <a:rPr lang="en-US" sz="2400" dirty="0">
                <a:latin typeface="Palatino-Roman"/>
              </a:rPr>
              <a:t>Let </a:t>
            </a:r>
            <a:r>
              <a:rPr lang="en-US" sz="2400" i="1" dirty="0">
                <a:solidFill>
                  <a:srgbClr val="00B0F0"/>
                </a:solidFill>
                <a:latin typeface="CMMI10"/>
              </a:rPr>
              <a:t>p</a:t>
            </a:r>
            <a:r>
              <a:rPr lang="en-US" sz="2400" dirty="0">
                <a:latin typeface="CMMI10"/>
              </a:rPr>
              <a:t> </a:t>
            </a:r>
            <a:r>
              <a:rPr lang="en-US" sz="2400" dirty="0">
                <a:latin typeface="Palatino-Roman"/>
              </a:rPr>
              <a:t>be the proposition ‘</a:t>
            </a:r>
            <a:r>
              <a:rPr lang="en-US" sz="2400" i="1" dirty="0">
                <a:solidFill>
                  <a:srgbClr val="00B0F0"/>
                </a:solidFill>
                <a:latin typeface="Palatino-Roman"/>
              </a:rPr>
              <a:t>You send me an e-mail message</a:t>
            </a:r>
            <a:r>
              <a:rPr lang="en-US" sz="2400" dirty="0">
                <a:latin typeface="Palatino-Roman"/>
              </a:rPr>
              <a:t>’,</a:t>
            </a:r>
          </a:p>
          <a:p>
            <a:pPr marL="0" indent="0">
              <a:buNone/>
            </a:pPr>
            <a:r>
              <a:rPr lang="en-US" sz="2400" i="1" dirty="0">
                <a:solidFill>
                  <a:srgbClr val="00B0F0"/>
                </a:solidFill>
                <a:latin typeface="CMMI10"/>
              </a:rPr>
              <a:t>q</a:t>
            </a:r>
            <a:r>
              <a:rPr lang="en-US" sz="2400" dirty="0">
                <a:latin typeface="CMMI10"/>
              </a:rPr>
              <a:t> </a:t>
            </a:r>
            <a:r>
              <a:rPr lang="en-US" sz="2400" dirty="0">
                <a:latin typeface="Palatino-Roman"/>
              </a:rPr>
              <a:t>the proposition ‘</a:t>
            </a:r>
            <a:r>
              <a:rPr lang="en-US" sz="2400" i="1" dirty="0">
                <a:solidFill>
                  <a:srgbClr val="00B0F0"/>
                </a:solidFill>
                <a:latin typeface="Palatino-Roman"/>
              </a:rPr>
              <a:t>I will finish writing the program</a:t>
            </a:r>
            <a:r>
              <a:rPr lang="en-US" sz="2400" dirty="0">
                <a:latin typeface="Palatino-Roman"/>
              </a:rPr>
              <a:t>’,</a:t>
            </a:r>
          </a:p>
          <a:p>
            <a:pPr marL="0" indent="0">
              <a:buNone/>
            </a:pPr>
            <a:r>
              <a:rPr lang="en-US" sz="2400" i="1" dirty="0">
                <a:solidFill>
                  <a:srgbClr val="00B0F0"/>
                </a:solidFill>
                <a:latin typeface="CMMI10"/>
              </a:rPr>
              <a:t>r</a:t>
            </a:r>
            <a:r>
              <a:rPr lang="en-US" sz="2400" dirty="0">
                <a:latin typeface="CMMI10"/>
              </a:rPr>
              <a:t> </a:t>
            </a:r>
            <a:r>
              <a:rPr lang="en-US" sz="2400" dirty="0">
                <a:latin typeface="Palatino-Roman"/>
              </a:rPr>
              <a:t>the proposition ‘</a:t>
            </a:r>
            <a:r>
              <a:rPr lang="en-US" sz="2400" i="1" dirty="0">
                <a:solidFill>
                  <a:srgbClr val="00B0F0"/>
                </a:solidFill>
                <a:latin typeface="Palatino-Roman"/>
              </a:rPr>
              <a:t>I will go to sleep early</a:t>
            </a:r>
            <a:r>
              <a:rPr lang="en-US" sz="2400" dirty="0">
                <a:latin typeface="Palatino-Roman"/>
              </a:rPr>
              <a:t>’, and</a:t>
            </a:r>
          </a:p>
          <a:p>
            <a:pPr marL="0" indent="0">
              <a:buNone/>
            </a:pPr>
            <a:r>
              <a:rPr lang="en-US" sz="2400" dirty="0">
                <a:solidFill>
                  <a:srgbClr val="00B0F0"/>
                </a:solidFill>
                <a:latin typeface="CMMI10"/>
              </a:rPr>
              <a:t>s</a:t>
            </a:r>
            <a:r>
              <a:rPr lang="en-US" sz="2400" dirty="0">
                <a:latin typeface="CMMI10"/>
              </a:rPr>
              <a:t> </a:t>
            </a:r>
            <a:r>
              <a:rPr lang="en-US" sz="2400" dirty="0">
                <a:latin typeface="Palatino-Roman"/>
              </a:rPr>
              <a:t>the proposition ‘</a:t>
            </a:r>
            <a:r>
              <a:rPr lang="en-US" sz="2400" dirty="0">
                <a:solidFill>
                  <a:srgbClr val="00B0F0"/>
                </a:solidFill>
                <a:latin typeface="Palatino-Roman"/>
              </a:rPr>
              <a:t>I will wake up feeling refreshed</a:t>
            </a:r>
            <a:r>
              <a:rPr lang="en-US" sz="2400" dirty="0">
                <a:latin typeface="Palatino-Roman"/>
              </a:rPr>
              <a:t>’.</a:t>
            </a:r>
          </a:p>
          <a:p>
            <a:pPr marL="0" indent="0" algn="just">
              <a:buNone/>
            </a:pPr>
            <a:endParaRPr lang="en-US" sz="2400" dirty="0">
              <a:solidFill>
                <a:schemeClr val="tx1"/>
              </a:solidFill>
            </a:endParaRPr>
          </a:p>
        </p:txBody>
      </p:sp>
      <p:sp>
        <p:nvSpPr>
          <p:cNvPr id="4" name="Slide Number Placeholder 3"/>
          <p:cNvSpPr>
            <a:spLocks noGrp="1"/>
          </p:cNvSpPr>
          <p:nvPr>
            <p:ph type="sldNum" sz="quarter" idx="12"/>
          </p:nvPr>
        </p:nvSpPr>
        <p:spPr/>
        <p:txBody>
          <a:bodyPr/>
          <a:lstStyle/>
          <a:p>
            <a:fld id="{F3C17577-0B44-47D5-BF4C-231DD1F36FC0}" type="slidenum">
              <a:rPr lang="en-US" smtClean="0"/>
              <a:t>30</a:t>
            </a:fld>
            <a:endParaRPr lang="en-US"/>
          </a:p>
        </p:txBody>
      </p:sp>
    </p:spTree>
    <p:extLst>
      <p:ext uri="{BB962C8B-B14F-4D97-AF65-F5344CB8AC3E}">
        <p14:creationId xmlns:p14="http://schemas.microsoft.com/office/powerpoint/2010/main" val="3243744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53037" y="787782"/>
                <a:ext cx="9691238" cy="2536443"/>
              </a:xfrm>
              <a:noFill/>
            </p:spPr>
            <p:txBody>
              <a:bodyPr>
                <a:noAutofit/>
              </a:bodyPr>
              <a:lstStyle/>
              <a:p>
                <a:pPr marL="0" indent="0">
                  <a:buNone/>
                </a:pPr>
                <a:r>
                  <a:rPr lang="en-US" sz="2400" b="1" dirty="0">
                    <a:latin typeface="Palatino-Bold"/>
                  </a:rPr>
                  <a:t>Solution </a:t>
                </a:r>
                <a:r>
                  <a:rPr lang="en-US" sz="2400" b="1" dirty="0" err="1">
                    <a:latin typeface="Palatino-Bold"/>
                  </a:rPr>
                  <a:t>cnt</a:t>
                </a:r>
                <a:r>
                  <a:rPr lang="en-US" sz="2400" b="1" dirty="0">
                    <a:latin typeface="Palatino-Bold"/>
                  </a:rPr>
                  <a:t>…</a:t>
                </a:r>
              </a:p>
              <a:p>
                <a:pPr marL="0" indent="0">
                  <a:buNone/>
                </a:pPr>
                <a:r>
                  <a:rPr lang="en-US" sz="2400" dirty="0">
                    <a:latin typeface="Palatino-Roman"/>
                  </a:rPr>
                  <a:t>Then the hypotheses are </a:t>
                </a:r>
                <a:r>
                  <a:rPr lang="en-US" sz="2400" dirty="0">
                    <a:latin typeface="CMMI10"/>
                  </a:rPr>
                  <a:t>p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dirty="0">
                    <a:latin typeface="CMSY10"/>
                  </a:rPr>
                  <a:t> </a:t>
                </a:r>
                <a:r>
                  <a:rPr lang="en-US" sz="2400" dirty="0">
                    <a:latin typeface="CMMI10"/>
                  </a:rPr>
                  <a:t>q</a:t>
                </a:r>
                <a:r>
                  <a:rPr lang="en-US" sz="2400" dirty="0">
                    <a:latin typeface="Palatino-Roman"/>
                  </a:rPr>
                  <a:t>, </a:t>
                </a:r>
                <a:r>
                  <a:rPr lang="en-US" sz="2400" dirty="0">
                    <a:latin typeface="CMSY10"/>
                  </a:rPr>
                  <a:t>¬</a:t>
                </a:r>
                <a:r>
                  <a:rPr lang="en-US" sz="2400" dirty="0">
                    <a:latin typeface="CMMI10"/>
                  </a:rPr>
                  <a:t>p </a:t>
                </a:r>
                <a14:m>
                  <m:oMath xmlns:m="http://schemas.openxmlformats.org/officeDocument/2006/math">
                    <m:r>
                      <a:rPr lang="en-US" sz="2400" i="1" dirty="0">
                        <a:latin typeface="Cambria Math" panose="02040503050406030204" pitchFamily="18" charset="0"/>
                        <a:ea typeface="Cambria Math" panose="02040503050406030204" pitchFamily="18" charset="0"/>
                      </a:rPr>
                      <m:t>→</m:t>
                    </m:r>
                  </m:oMath>
                </a14:m>
                <a:r>
                  <a:rPr lang="en-US" sz="2400" dirty="0">
                    <a:latin typeface="CMSY10"/>
                  </a:rPr>
                  <a:t> </a:t>
                </a:r>
                <a:r>
                  <a:rPr lang="en-US" sz="2400" dirty="0">
                    <a:latin typeface="CMMI10"/>
                  </a:rPr>
                  <a:t>r </a:t>
                </a:r>
                <a:r>
                  <a:rPr lang="en-US" sz="2400" dirty="0">
                    <a:latin typeface="Palatino-Roman"/>
                  </a:rPr>
                  <a:t>and </a:t>
                </a:r>
                <a:r>
                  <a:rPr lang="en-US" sz="2400" dirty="0">
                    <a:latin typeface="CMMI10"/>
                  </a:rPr>
                  <a:t>r </a:t>
                </a:r>
                <a14:m>
                  <m:oMath xmlns:m="http://schemas.openxmlformats.org/officeDocument/2006/math">
                    <m:r>
                      <a:rPr lang="en-US" sz="2400" i="1" dirty="0">
                        <a:latin typeface="Cambria Math" panose="02040503050406030204" pitchFamily="18" charset="0"/>
                        <a:ea typeface="Cambria Math" panose="02040503050406030204" pitchFamily="18" charset="0"/>
                      </a:rPr>
                      <m:t>→</m:t>
                    </m:r>
                  </m:oMath>
                </a14:m>
                <a:r>
                  <a:rPr lang="en-US" sz="2400" dirty="0">
                    <a:latin typeface="CMSY10"/>
                  </a:rPr>
                  <a:t> </a:t>
                </a:r>
                <a:r>
                  <a:rPr lang="en-US" sz="2400" dirty="0">
                    <a:latin typeface="CMMI10"/>
                  </a:rPr>
                  <a:t>s</a:t>
                </a:r>
                <a:r>
                  <a:rPr lang="en-US" sz="2400" dirty="0">
                    <a:latin typeface="Palatino-Roman"/>
                  </a:rPr>
                  <a:t>.</a:t>
                </a:r>
              </a:p>
              <a:p>
                <a:pPr marL="0" indent="0">
                  <a:buNone/>
                </a:pPr>
                <a:r>
                  <a:rPr lang="en-US" sz="2400" dirty="0">
                    <a:latin typeface="Palatino-Roman"/>
                  </a:rPr>
                  <a:t>The conclusion is </a:t>
                </a:r>
                <a:r>
                  <a:rPr lang="en-US" sz="2400" dirty="0">
                    <a:latin typeface="CMSY10"/>
                  </a:rPr>
                  <a:t>¬</a:t>
                </a:r>
                <a:r>
                  <a:rPr lang="en-US" sz="2400" dirty="0">
                    <a:latin typeface="CMMI10"/>
                  </a:rPr>
                  <a:t>q </a:t>
                </a:r>
                <a14:m>
                  <m:oMath xmlns:m="http://schemas.openxmlformats.org/officeDocument/2006/math">
                    <m:r>
                      <a:rPr lang="en-US" sz="2400" i="1" dirty="0">
                        <a:latin typeface="Cambria Math" panose="02040503050406030204" pitchFamily="18" charset="0"/>
                        <a:ea typeface="Cambria Math" panose="02040503050406030204" pitchFamily="18" charset="0"/>
                      </a:rPr>
                      <m:t>→</m:t>
                    </m:r>
                  </m:oMath>
                </a14:m>
                <a:r>
                  <a:rPr lang="en-US" sz="2400" dirty="0">
                    <a:latin typeface="CMSY10"/>
                  </a:rPr>
                  <a:t> </a:t>
                </a:r>
                <a:r>
                  <a:rPr lang="en-US" sz="2400" dirty="0">
                    <a:latin typeface="CMMI10"/>
                  </a:rPr>
                  <a:t>s</a:t>
                </a:r>
                <a:r>
                  <a:rPr lang="en-US" sz="2400" dirty="0">
                    <a:latin typeface="Palatino-Roman"/>
                  </a:rPr>
                  <a:t>.</a:t>
                </a:r>
              </a:p>
              <a:p>
                <a:pPr marL="0" indent="0">
                  <a:buNone/>
                </a:pPr>
                <a:r>
                  <a:rPr lang="en-US" sz="2400" dirty="0">
                    <a:latin typeface="Palatino-Roman"/>
                  </a:rPr>
                  <a:t>We construct an argument to show that our hypotheses lead to the desired conclusion as follows.</a:t>
                </a:r>
                <a:endParaRPr lang="en-US" sz="2400" dirty="0">
                  <a:latin typeface="Palatino-Bold"/>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53037" y="787782"/>
                <a:ext cx="9691238" cy="2536443"/>
              </a:xfrm>
              <a:blipFill>
                <a:blip r:embed="rId2"/>
                <a:stretch>
                  <a:fillRect l="-943" t="-168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3C17577-0B44-47D5-BF4C-231DD1F36FC0}" type="slidenum">
              <a:rPr lang="en-US" smtClean="0"/>
              <a:t>31</a:t>
            </a:fld>
            <a:endParaRPr lang="en-US"/>
          </a:p>
        </p:txBody>
      </p:sp>
      <p:pic>
        <p:nvPicPr>
          <p:cNvPr id="6" name="Picture 5"/>
          <p:cNvPicPr>
            <a:picLocks noChangeAspect="1"/>
          </p:cNvPicPr>
          <p:nvPr/>
        </p:nvPicPr>
        <p:blipFill>
          <a:blip r:embed="rId3"/>
          <a:stretch>
            <a:fillRect/>
          </a:stretch>
        </p:blipFill>
        <p:spPr>
          <a:xfrm>
            <a:off x="2428875" y="3324225"/>
            <a:ext cx="7457914" cy="2709863"/>
          </a:xfrm>
          <a:prstGeom prst="rect">
            <a:avLst/>
          </a:prstGeom>
        </p:spPr>
      </p:pic>
    </p:spTree>
    <p:extLst>
      <p:ext uri="{BB962C8B-B14F-4D97-AF65-F5344CB8AC3E}">
        <p14:creationId xmlns:p14="http://schemas.microsoft.com/office/powerpoint/2010/main" val="3339144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7764" y="2372264"/>
            <a:ext cx="8911687" cy="1266646"/>
          </a:xfrm>
        </p:spPr>
        <p:txBody>
          <a:bodyPr/>
          <a:lstStyle/>
          <a:p>
            <a:pPr algn="ctr"/>
            <a:r>
              <a:rPr lang="en-US" b="1" dirty="0"/>
              <a:t>The End</a:t>
            </a:r>
          </a:p>
        </p:txBody>
      </p:sp>
      <p:sp>
        <p:nvSpPr>
          <p:cNvPr id="4" name="Slide Number Placeholder 3"/>
          <p:cNvSpPr>
            <a:spLocks noGrp="1"/>
          </p:cNvSpPr>
          <p:nvPr>
            <p:ph type="sldNum" sz="quarter" idx="12"/>
          </p:nvPr>
        </p:nvSpPr>
        <p:spPr/>
        <p:txBody>
          <a:bodyPr/>
          <a:lstStyle/>
          <a:p>
            <a:fld id="{F3C17577-0B44-47D5-BF4C-231DD1F36FC0}" type="slidenum">
              <a:rPr lang="en-US" smtClean="0"/>
              <a:t>32</a:t>
            </a:fld>
            <a:endParaRPr lang="en-US"/>
          </a:p>
        </p:txBody>
      </p:sp>
    </p:spTree>
    <p:extLst>
      <p:ext uri="{BB962C8B-B14F-4D97-AF65-F5344CB8AC3E}">
        <p14:creationId xmlns:p14="http://schemas.microsoft.com/office/powerpoint/2010/main" val="340035324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2017</TotalTime>
  <Words>3157</Words>
  <Application>Microsoft Office PowerPoint</Application>
  <PresentationFormat>Widescreen</PresentationFormat>
  <Paragraphs>358</Paragraphs>
  <Slides>32</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32</vt:i4>
      </vt:variant>
    </vt:vector>
  </HeadingPairs>
  <TitlesOfParts>
    <vt:vector size="45" baseType="lpstr">
      <vt:lpstr>Arial</vt:lpstr>
      <vt:lpstr>Calibri</vt:lpstr>
      <vt:lpstr>Cambria Math</vt:lpstr>
      <vt:lpstr>Century Gothic</vt:lpstr>
      <vt:lpstr>CMMI10</vt:lpstr>
      <vt:lpstr>CMSY10</vt:lpstr>
      <vt:lpstr>Palatino-Bold</vt:lpstr>
      <vt:lpstr>Palatino-Italic</vt:lpstr>
      <vt:lpstr>Palatino-Roman</vt:lpstr>
      <vt:lpstr>Times New Roman</vt:lpstr>
      <vt:lpstr>Verdana</vt:lpstr>
      <vt:lpstr>Wingdings 3</vt:lpstr>
      <vt:lpstr>Wisp</vt:lpstr>
      <vt:lpstr>MA161 Discrete Mathematics I</vt:lpstr>
      <vt:lpstr>Introduction</vt:lpstr>
      <vt:lpstr>Objectives</vt:lpstr>
      <vt:lpstr>Valid Arguments in Propositional Logic</vt:lpstr>
      <vt:lpstr>Example 1</vt:lpstr>
      <vt:lpstr>Example 2</vt:lpstr>
      <vt:lpstr>Fallacies</vt:lpstr>
      <vt:lpstr>Examples of famous Fallacies</vt:lpstr>
      <vt:lpstr>Converse Error</vt:lpstr>
      <vt:lpstr>Inverse Error</vt:lpstr>
      <vt:lpstr>Inverse Error</vt:lpstr>
      <vt:lpstr>Example 17</vt:lpstr>
      <vt:lpstr>Rules of Inference</vt:lpstr>
      <vt:lpstr>Modus Ponens</vt:lpstr>
      <vt:lpstr>Example 4</vt:lpstr>
      <vt:lpstr>Modus Tollens</vt:lpstr>
      <vt:lpstr>Addition</vt:lpstr>
      <vt:lpstr>Simplification</vt:lpstr>
      <vt:lpstr>Conjunction</vt:lpstr>
      <vt:lpstr>Disjunctive Syllogism</vt:lpstr>
      <vt:lpstr>Hypothetical Syllogism</vt:lpstr>
      <vt:lpstr>Division into cases</vt:lpstr>
      <vt:lpstr>Contradiction</vt:lpstr>
      <vt:lpstr>Example 12</vt:lpstr>
      <vt:lpstr>Example 13</vt:lpstr>
      <vt:lpstr>Several rules of inference</vt:lpstr>
      <vt:lpstr>Example 14</vt:lpstr>
      <vt:lpstr>Example 14 cnt…</vt:lpstr>
      <vt:lpstr>Example 14 cnt…</vt:lpstr>
      <vt:lpstr>Example 15</vt:lpstr>
      <vt:lpstr>PowerPoint Presentation</vt:lpstr>
      <vt:lpstr>The End</vt:lpstr>
    </vt:vector>
  </TitlesOfParts>
  <Company>The University of the South Pacific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MA161 Discrete Mathematics I</dc:title>
  <dc:creator>Tokaua Tekabu</dc:creator>
  <cp:lastModifiedBy>Avinesh Prasad</cp:lastModifiedBy>
  <cp:revision>154</cp:revision>
  <cp:lastPrinted>2019-07-22T21:51:02Z</cp:lastPrinted>
  <dcterms:created xsi:type="dcterms:W3CDTF">2019-07-08T20:55:52Z</dcterms:created>
  <dcterms:modified xsi:type="dcterms:W3CDTF">2022-08-23T00:27:58Z</dcterms:modified>
</cp:coreProperties>
</file>